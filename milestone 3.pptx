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101E1B-9E21-C76B-3498-58B7A238FF4D}"/>
              </a:ext>
            </a:extLst>
          </p:cNvPr>
          <p:cNvSpPr/>
          <p:nvPr/>
        </p:nvSpPr>
        <p:spPr>
          <a:xfrm>
            <a:off x="3399620" y="3938296"/>
            <a:ext cx="53927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MILESTONE - 3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647447E-AC24-BED4-C5A9-5B3AD7725437}"/>
              </a:ext>
            </a:extLst>
          </p:cNvPr>
          <p:cNvSpPr txBox="1">
            <a:spLocks/>
          </p:cNvSpPr>
          <p:nvPr/>
        </p:nvSpPr>
        <p:spPr>
          <a:xfrm>
            <a:off x="599225" y="923803"/>
            <a:ext cx="10993549" cy="6858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600" dirty="0"/>
              <a:t>          </a:t>
            </a:r>
            <a:r>
              <a:rPr lang="en-IN" sz="3600" dirty="0">
                <a:solidFill>
                  <a:schemeClr val="accent1"/>
                </a:solidFill>
              </a:rPr>
              <a:t>HEALTHCARE GRIEVANCE SYSTEM (HGS)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50A1DD-238E-49D6-FD80-C3F04AD165E9}"/>
              </a:ext>
            </a:extLst>
          </p:cNvPr>
          <p:cNvSpPr txBox="1">
            <a:spLocks/>
          </p:cNvSpPr>
          <p:nvPr/>
        </p:nvSpPr>
        <p:spPr>
          <a:xfrm>
            <a:off x="599228" y="1609624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dirty="0">
                <a:solidFill>
                  <a:schemeClr val="accent1"/>
                </a:solidFill>
              </a:rPr>
              <a:t>Resolve Complaints. Improve Care</a:t>
            </a:r>
          </a:p>
        </p:txBody>
      </p:sp>
    </p:spTree>
    <p:extLst>
      <p:ext uri="{BB962C8B-B14F-4D97-AF65-F5344CB8AC3E}">
        <p14:creationId xmlns:p14="http://schemas.microsoft.com/office/powerpoint/2010/main" val="2247995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BFC991-9EBC-401A-89FE-FEA79DE8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       IN MILESTONE -1</a:t>
            </a:r>
            <a:endParaRPr lang="en-IN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AE98B-D903-2D09-1AC5-42BBE2D4757A}"/>
              </a:ext>
            </a:extLst>
          </p:cNvPr>
          <p:cNvSpPr/>
          <p:nvPr/>
        </p:nvSpPr>
        <p:spPr>
          <a:xfrm>
            <a:off x="1070002" y="2081959"/>
            <a:ext cx="614463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Goal:</a:t>
            </a:r>
            <a:r>
              <a:rPr lang="en-US" altLang="en-US" sz="2400" dirty="0">
                <a:latin typeface="Arial" panose="020B0604020202020204" pitchFamily="34" charset="0"/>
              </a:rPr>
              <a:t> Establish the user-facing foundation.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A46D01-2C02-4D41-957A-AC70140C6854}"/>
              </a:ext>
            </a:extLst>
          </p:cNvPr>
          <p:cNvSpPr/>
          <p:nvPr/>
        </p:nvSpPr>
        <p:spPr>
          <a:xfrm>
            <a:off x="1070002" y="2964357"/>
            <a:ext cx="9930924" cy="18415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Accomplishments</a:t>
            </a:r>
            <a:r>
              <a:rPr lang="en-US" altLang="en-US" sz="2000" b="1" dirty="0">
                <a:latin typeface="Arial" panose="020B0604020202020204" pitchFamily="34" charset="0"/>
              </a:rPr>
              <a:t> -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                      </a:t>
            </a:r>
            <a:r>
              <a:rPr lang="en-US" altLang="en-US" dirty="0">
                <a:latin typeface="Arial" panose="020B0604020202020204" pitchFamily="34" charset="0"/>
              </a:rPr>
              <a:t>Designed responsive UI for </a:t>
            </a:r>
            <a:r>
              <a:rPr lang="en-US" altLang="en-US" b="1" dirty="0">
                <a:latin typeface="Arial" panose="020B0604020202020204" pitchFamily="34" charset="0"/>
              </a:rPr>
              <a:t>Login/Register</a:t>
            </a:r>
            <a:r>
              <a:rPr lang="en-US" altLang="en-US" dirty="0">
                <a:latin typeface="Arial" panose="020B0604020202020204" pitchFamily="34" charset="0"/>
              </a:rPr>
              <a:t> and the </a:t>
            </a:r>
            <a:r>
              <a:rPr lang="en-US" altLang="en-US" b="1" dirty="0">
                <a:latin typeface="Arial" panose="020B0604020202020204" pitchFamily="34" charset="0"/>
              </a:rPr>
              <a:t>Home Page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               Developed core </a:t>
            </a:r>
            <a:r>
              <a:rPr lang="en-US" altLang="en-US" b="1" dirty="0">
                <a:latin typeface="Arial" panose="020B0604020202020204" pitchFamily="34" charset="0"/>
              </a:rPr>
              <a:t>Role-Based Dashboards</a:t>
            </a:r>
            <a:r>
              <a:rPr lang="en-US" altLang="en-US" dirty="0">
                <a:latin typeface="Arial" panose="020B0604020202020204" pitchFamily="34" charset="0"/>
              </a:rPr>
              <a:t> for Patients, Admin, and Staff.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               Built interactive features like grievance submission forms and ticket status tables.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C732B9-80F0-2F9B-0FFD-9BEE716F6C36}"/>
              </a:ext>
            </a:extLst>
          </p:cNvPr>
          <p:cNvSpPr/>
          <p:nvPr/>
        </p:nvSpPr>
        <p:spPr>
          <a:xfrm>
            <a:off x="1070002" y="5141913"/>
            <a:ext cx="630685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2400" b="1" dirty="0">
                <a:latin typeface="Arial" panose="020B0604020202020204" pitchFamily="34" charset="0"/>
              </a:rPr>
              <a:t>Tech Used</a:t>
            </a:r>
            <a:r>
              <a:rPr lang="en-US" altLang="en-US" sz="2000" b="1" dirty="0"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HTML, CSS, JavaScript, and Tailwind CSS </a:t>
            </a:r>
          </a:p>
        </p:txBody>
      </p:sp>
    </p:spTree>
    <p:extLst>
      <p:ext uri="{BB962C8B-B14F-4D97-AF65-F5344CB8AC3E}">
        <p14:creationId xmlns:p14="http://schemas.microsoft.com/office/powerpoint/2010/main" val="428821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B47D64-F840-87A8-1EA7-86549BA76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       IN MILESTONE -2</a:t>
            </a:r>
            <a:endParaRPr lang="en-IN" sz="36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C5F1326-2A88-A284-C1EB-929DEC47DD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8076" y="5049203"/>
            <a:ext cx="5587363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Used-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(JDK 25) and Spring Boot 4.0.0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71282-36AC-5092-BFE6-DCC2DBDECE71}"/>
              </a:ext>
            </a:extLst>
          </p:cNvPr>
          <p:cNvSpPr/>
          <p:nvPr/>
        </p:nvSpPr>
        <p:spPr>
          <a:xfrm>
            <a:off x="1018076" y="2218763"/>
            <a:ext cx="468910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2400" b="1" dirty="0">
                <a:latin typeface="Arial" panose="020B0604020202020204" pitchFamily="34" charset="0"/>
              </a:rPr>
              <a:t>Goal:</a:t>
            </a:r>
            <a:r>
              <a:rPr lang="en-US" altLang="en-US" dirty="0">
                <a:latin typeface="Arial" panose="020B0604020202020204" pitchFamily="34" charset="0"/>
              </a:rPr>
              <a:t> Build a secure, functional data layer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F89FBD-5124-006F-B67F-2C57C7604609}"/>
              </a:ext>
            </a:extLst>
          </p:cNvPr>
          <p:cNvSpPr/>
          <p:nvPr/>
        </p:nvSpPr>
        <p:spPr>
          <a:xfrm>
            <a:off x="1018076" y="2878865"/>
            <a:ext cx="10419712" cy="217033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Accomplishments -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Database Schema:</a:t>
            </a:r>
            <a:r>
              <a:rPr lang="en-US" altLang="en-US" sz="1600" dirty="0">
                <a:latin typeface="Arial" panose="020B0604020202020204" pitchFamily="34" charset="0"/>
              </a:rPr>
              <a:t> Implemented MySQL tables for Users and Grievances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 		with precise fields (ID, Status, Category).</a:t>
            </a:r>
          </a:p>
          <a:p>
            <a:pPr lvl="2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Security:</a:t>
            </a:r>
            <a:r>
              <a:rPr lang="en-US" altLang="en-US" sz="1600" dirty="0">
                <a:latin typeface="Arial" panose="020B0604020202020204" pitchFamily="34" charset="0"/>
              </a:rPr>
              <a:t> Successfully integrated </a:t>
            </a:r>
            <a:r>
              <a:rPr lang="en-US" altLang="en-US" sz="1600" b="1" dirty="0">
                <a:latin typeface="Arial" panose="020B0604020202020204" pitchFamily="34" charset="0"/>
              </a:rPr>
              <a:t>JWT Authentication</a:t>
            </a:r>
            <a:r>
              <a:rPr lang="en-US" altLang="en-US" sz="1600" dirty="0">
                <a:latin typeface="Arial" panose="020B0604020202020204" pitchFamily="34" charset="0"/>
              </a:rPr>
              <a:t> and hashed passwords using </a:t>
            </a:r>
            <a:r>
              <a:rPr lang="en-US" altLang="en-US" sz="1600" dirty="0" err="1">
                <a:latin typeface="Arial" panose="020B0604020202020204" pitchFamily="34" charset="0"/>
              </a:rPr>
              <a:t>BCrypt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lvl="2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API Readiness:</a:t>
            </a:r>
            <a:r>
              <a:rPr lang="en-US" altLang="en-US" sz="1600" dirty="0">
                <a:latin typeface="Arial" panose="020B0604020202020204" pitchFamily="34" charset="0"/>
              </a:rPr>
              <a:t> Developed and verified core endpoints (Register, Login, Submission) using </a:t>
            </a:r>
            <a:r>
              <a:rPr lang="en-US" altLang="en-US" sz="1600" b="1" dirty="0">
                <a:latin typeface="Arial" panose="020B0604020202020204" pitchFamily="34" charset="0"/>
              </a:rPr>
              <a:t>Postman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744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8782CEF-7694-9BF3-9C3D-07F040805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2084" y="2823376"/>
            <a:ext cx="8572988" cy="27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Goals: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	Connect Frontend Dashboards to Backend Spring Boot APIs.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	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 Data Loading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(replacing static table rows with real DB records).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	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Functional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(securing frontend routes with JWT).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	Achieve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End-to-End Workflows.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AAD615-A006-3159-8AD8-DC1E90F83F20}"/>
              </a:ext>
            </a:extLst>
          </p:cNvPr>
          <p:cNvSpPr/>
          <p:nvPr/>
        </p:nvSpPr>
        <p:spPr>
          <a:xfrm>
            <a:off x="1032084" y="2190587"/>
            <a:ext cx="84395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2400" b="1" dirty="0">
                <a:latin typeface="Google Sans Text"/>
              </a:rPr>
              <a:t>Current Focus</a:t>
            </a:r>
            <a:r>
              <a:rPr lang="en-US" altLang="en-US" b="1" dirty="0">
                <a:latin typeface="Google Sans Text"/>
              </a:rPr>
              <a:t>:</a:t>
            </a:r>
            <a:r>
              <a:rPr lang="en-US" altLang="en-US" dirty="0">
                <a:latin typeface="Google Sans Text"/>
              </a:rPr>
              <a:t> </a:t>
            </a:r>
            <a:r>
              <a:rPr lang="en-US" altLang="en-US" sz="1900" dirty="0">
                <a:latin typeface="Google Sans Text"/>
              </a:rPr>
              <a:t>Transitioning from separate components to an integrated system</a:t>
            </a:r>
            <a:endParaRPr lang="en-US" sz="19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4C9FE9E-2681-F9EA-432A-BC18275E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                                         MILESTONE - 3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115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15BFAE-36F4-ACF3-0106-46CC9551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                                         MILESTONE - 3</a:t>
            </a:r>
            <a:endParaRPr lang="en-I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1BA2E49-4A45-5F20-A22D-D8F5FE4851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5" y="2607688"/>
            <a:ext cx="11062708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Connecting the Dots: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Fetching: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JS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axios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send JWT tokens to the Backend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Workflow: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Implementing the logic where an Admin and Staff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can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 complaint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and resolve it.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Integration: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Status Updates: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Ensuring a status change by staff is instantly visible to the patient.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Ensuring user-submitted data matches the database constraints (e.g., Description length)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8AC38D-6E25-E64F-80B3-D03C4A5A0A9C}"/>
              </a:ext>
            </a:extLst>
          </p:cNvPr>
          <p:cNvSpPr/>
          <p:nvPr/>
        </p:nvSpPr>
        <p:spPr>
          <a:xfrm>
            <a:off x="2938212" y="1944780"/>
            <a:ext cx="63155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u="sng" dirty="0">
                <a:latin typeface="Arial" panose="020B0604020202020204" pitchFamily="34" charset="0"/>
              </a:rPr>
              <a:t>Integration Architecture &amp; Workflow</a:t>
            </a:r>
          </a:p>
        </p:txBody>
      </p:sp>
    </p:spTree>
    <p:extLst>
      <p:ext uri="{BB962C8B-B14F-4D97-AF65-F5344CB8AC3E}">
        <p14:creationId xmlns:p14="http://schemas.microsoft.com/office/powerpoint/2010/main" val="238341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B43046-791F-0DEE-1472-564861536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                                             </a:t>
            </a:r>
            <a:r>
              <a:rPr lang="en-IN" dirty="0"/>
              <a:t>To-Do List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572DBA-5E1C-7140-1933-B18C5889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882322"/>
              </p:ext>
            </p:extLst>
          </p:nvPr>
        </p:nvGraphicFramePr>
        <p:xfrm>
          <a:off x="1102936" y="2335213"/>
          <a:ext cx="9822730" cy="3961892"/>
        </p:xfrm>
        <a:graphic>
          <a:graphicData uri="http://schemas.openxmlformats.org/drawingml/2006/table">
            <a:tbl>
              <a:tblPr/>
              <a:tblGrid>
                <a:gridCol w="1964546">
                  <a:extLst>
                    <a:ext uri="{9D8B030D-6E8A-4147-A177-3AD203B41FA5}">
                      <a16:colId xmlns:a16="http://schemas.microsoft.com/office/drawing/2014/main" val="4184710373"/>
                    </a:ext>
                  </a:extLst>
                </a:gridCol>
                <a:gridCol w="1964546">
                  <a:extLst>
                    <a:ext uri="{9D8B030D-6E8A-4147-A177-3AD203B41FA5}">
                      <a16:colId xmlns:a16="http://schemas.microsoft.com/office/drawing/2014/main" val="515152511"/>
                    </a:ext>
                  </a:extLst>
                </a:gridCol>
                <a:gridCol w="1964546">
                  <a:extLst>
                    <a:ext uri="{9D8B030D-6E8A-4147-A177-3AD203B41FA5}">
                      <a16:colId xmlns:a16="http://schemas.microsoft.com/office/drawing/2014/main" val="956741945"/>
                    </a:ext>
                  </a:extLst>
                </a:gridCol>
                <a:gridCol w="1964546">
                  <a:extLst>
                    <a:ext uri="{9D8B030D-6E8A-4147-A177-3AD203B41FA5}">
                      <a16:colId xmlns:a16="http://schemas.microsoft.com/office/drawing/2014/main" val="791765911"/>
                    </a:ext>
                  </a:extLst>
                </a:gridCol>
                <a:gridCol w="1964546">
                  <a:extLst>
                    <a:ext uri="{9D8B030D-6E8A-4147-A177-3AD203B41FA5}">
                      <a16:colId xmlns:a16="http://schemas.microsoft.com/office/drawing/2014/main" val="1165774482"/>
                    </a:ext>
                  </a:extLst>
                </a:gridCol>
              </a:tblGrid>
              <a:tr h="299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Milestone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Category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Task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Details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Status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036"/>
                  </a:ext>
                </a:extLst>
              </a:tr>
              <a:tr h="747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Milestone 1</a:t>
                      </a:r>
                      <a:endParaRPr lang="en-IN" sz="1300" dirty="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Frontend UI</a:t>
                      </a:r>
                      <a:endParaRPr lang="en-IN" sz="1300" dirty="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Landing &amp; Auth UI</a:t>
                      </a: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Finalize Login/Register UI and Home page.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</a:t>
                      </a:r>
                      <a:r>
                        <a:rPr lang="en-IN" sz="1300" b="1"/>
                        <a:t>DONE</a:t>
                      </a: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4256"/>
                  </a:ext>
                </a:extLst>
              </a:tr>
              <a:tr h="74752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Dashboards</a:t>
                      </a: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Complete Patient, Admin, and Staff Dashboard UIs.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</a:t>
                      </a:r>
                      <a:r>
                        <a:rPr lang="en-IN" sz="1300" b="1"/>
                        <a:t>DONE</a:t>
                      </a: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079272"/>
                  </a:ext>
                </a:extLst>
              </a:tr>
              <a:tr h="119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Milestone 2</a:t>
                      </a:r>
                      <a:endParaRPr lang="en-IN" sz="1300" dirty="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Backend</a:t>
                      </a: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Environment</a:t>
                      </a: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Initialize Spring Boot project (JDK 25) and configure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application.properties</a:t>
                      </a:r>
                      <a:r>
                        <a:rPr lang="en-US" sz="1300"/>
                        <a:t>.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</a:t>
                      </a:r>
                      <a:r>
                        <a:rPr lang="en-IN" sz="1300" b="1"/>
                        <a:t>DONE</a:t>
                      </a: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566119"/>
                  </a:ext>
                </a:extLst>
              </a:tr>
              <a:tr h="9717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DB Schema</a:t>
                      </a:r>
                      <a:endParaRPr lang="en-IN" sz="130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Design and implement MySQL tables for Users and Grievances.</a:t>
                      </a:r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✅ </a:t>
                      </a:r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6495" marR="66495" marT="33248" marB="33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82789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A82F777-B866-8EAB-C644-5AECB146C213}"/>
              </a:ext>
            </a:extLst>
          </p:cNvPr>
          <p:cNvSpPr/>
          <p:nvPr/>
        </p:nvSpPr>
        <p:spPr>
          <a:xfrm>
            <a:off x="867266" y="2158738"/>
            <a:ext cx="10221798" cy="43457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27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C4C999-056F-69E5-9F66-68981F241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520557"/>
              </p:ext>
            </p:extLst>
          </p:nvPr>
        </p:nvGraphicFramePr>
        <p:xfrm>
          <a:off x="1197204" y="2353423"/>
          <a:ext cx="10048970" cy="3736292"/>
        </p:xfrm>
        <a:graphic>
          <a:graphicData uri="http://schemas.openxmlformats.org/drawingml/2006/table">
            <a:tbl>
              <a:tblPr/>
              <a:tblGrid>
                <a:gridCol w="2009794">
                  <a:extLst>
                    <a:ext uri="{9D8B030D-6E8A-4147-A177-3AD203B41FA5}">
                      <a16:colId xmlns:a16="http://schemas.microsoft.com/office/drawing/2014/main" val="1105789958"/>
                    </a:ext>
                  </a:extLst>
                </a:gridCol>
                <a:gridCol w="2009794">
                  <a:extLst>
                    <a:ext uri="{9D8B030D-6E8A-4147-A177-3AD203B41FA5}">
                      <a16:colId xmlns:a16="http://schemas.microsoft.com/office/drawing/2014/main" val="553679851"/>
                    </a:ext>
                  </a:extLst>
                </a:gridCol>
                <a:gridCol w="2009794">
                  <a:extLst>
                    <a:ext uri="{9D8B030D-6E8A-4147-A177-3AD203B41FA5}">
                      <a16:colId xmlns:a16="http://schemas.microsoft.com/office/drawing/2014/main" val="467889290"/>
                    </a:ext>
                  </a:extLst>
                </a:gridCol>
                <a:gridCol w="2009794">
                  <a:extLst>
                    <a:ext uri="{9D8B030D-6E8A-4147-A177-3AD203B41FA5}">
                      <a16:colId xmlns:a16="http://schemas.microsoft.com/office/drawing/2014/main" val="2433319315"/>
                    </a:ext>
                  </a:extLst>
                </a:gridCol>
                <a:gridCol w="2009794">
                  <a:extLst>
                    <a:ext uri="{9D8B030D-6E8A-4147-A177-3AD203B41FA5}">
                      <a16:colId xmlns:a16="http://schemas.microsoft.com/office/drawing/2014/main" val="711373243"/>
                    </a:ext>
                  </a:extLst>
                </a:gridCol>
              </a:tblGrid>
              <a:tr h="351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Milestone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Category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Task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Details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Status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682229"/>
                  </a:ext>
                </a:extLst>
              </a:tr>
              <a:tr h="122789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 </a:t>
                      </a:r>
                      <a:r>
                        <a:rPr lang="en-IN" sz="1400" b="1" dirty="0"/>
                        <a:t>Milestone 2</a:t>
                      </a:r>
                      <a:endParaRPr lang="en-IN" sz="1400" dirty="0"/>
                    </a:p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Auth APIs</a:t>
                      </a: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Implement User Registration (BCrypt) and Login with </a:t>
                      </a:r>
                      <a:r>
                        <a:rPr lang="en-US" sz="1400" b="1"/>
                        <a:t>JWT Authentication</a:t>
                      </a:r>
                      <a:r>
                        <a:rPr lang="en-US" sz="1400"/>
                        <a:t>.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</a:t>
                      </a:r>
                      <a:r>
                        <a:rPr lang="en-IN" sz="1400" b="1" dirty="0"/>
                        <a:t>DONE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232872"/>
                  </a:ext>
                </a:extLst>
              </a:tr>
              <a:tr h="9291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Testing</a:t>
                      </a: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Verify all endpoints (Register/Login/Submission) using </a:t>
                      </a:r>
                      <a:r>
                        <a:rPr lang="en-US" sz="1400" b="1" dirty="0"/>
                        <a:t>Postman/</a:t>
                      </a:r>
                      <a:r>
                        <a:rPr lang="en-US" sz="1400" b="1"/>
                        <a:t>thermal client</a:t>
                      </a:r>
                      <a:r>
                        <a:rPr lang="en-US" sz="1400"/>
                        <a:t>.</a:t>
                      </a:r>
                      <a:endParaRPr lang="en-US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</a:t>
                      </a:r>
                      <a:r>
                        <a:rPr lang="en-IN" sz="1400" b="1" dirty="0"/>
                        <a:t>DONE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879950"/>
                  </a:ext>
                </a:extLst>
              </a:tr>
              <a:tr h="12278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Retrieval</a:t>
                      </a: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Implement custom repository methods like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findByReporterId</a:t>
                      </a:r>
                      <a:r>
                        <a:rPr lang="en-US" sz="1400"/>
                        <a:t> to fetch specific user cases.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</a:t>
                      </a:r>
                      <a:r>
                        <a:rPr lang="en-IN" sz="1400" b="1" dirty="0"/>
                        <a:t>DONE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20848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665B7D0-BA99-9075-1163-87F4AF872927}"/>
              </a:ext>
            </a:extLst>
          </p:cNvPr>
          <p:cNvSpPr/>
          <p:nvPr/>
        </p:nvSpPr>
        <p:spPr>
          <a:xfrm>
            <a:off x="867266" y="2158738"/>
            <a:ext cx="10221798" cy="43457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DFF03A-A3B8-AC6A-8A4C-7C38DF96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                                             </a:t>
            </a:r>
            <a:r>
              <a:rPr lang="en-IN" dirty="0"/>
              <a:t>To-Do List</a:t>
            </a:r>
          </a:p>
        </p:txBody>
      </p:sp>
    </p:spTree>
    <p:extLst>
      <p:ext uri="{BB962C8B-B14F-4D97-AF65-F5344CB8AC3E}">
        <p14:creationId xmlns:p14="http://schemas.microsoft.com/office/powerpoint/2010/main" val="1416429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640DA6-FAB9-1D96-7117-8CF8D15FD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198199"/>
              </p:ext>
            </p:extLst>
          </p:nvPr>
        </p:nvGraphicFramePr>
        <p:xfrm>
          <a:off x="1071515" y="2475971"/>
          <a:ext cx="10048970" cy="3472341"/>
        </p:xfrm>
        <a:graphic>
          <a:graphicData uri="http://schemas.openxmlformats.org/drawingml/2006/table">
            <a:tbl>
              <a:tblPr/>
              <a:tblGrid>
                <a:gridCol w="2009794">
                  <a:extLst>
                    <a:ext uri="{9D8B030D-6E8A-4147-A177-3AD203B41FA5}">
                      <a16:colId xmlns:a16="http://schemas.microsoft.com/office/drawing/2014/main" val="1105789958"/>
                    </a:ext>
                  </a:extLst>
                </a:gridCol>
                <a:gridCol w="2009794">
                  <a:extLst>
                    <a:ext uri="{9D8B030D-6E8A-4147-A177-3AD203B41FA5}">
                      <a16:colId xmlns:a16="http://schemas.microsoft.com/office/drawing/2014/main" val="553679851"/>
                    </a:ext>
                  </a:extLst>
                </a:gridCol>
                <a:gridCol w="2009794">
                  <a:extLst>
                    <a:ext uri="{9D8B030D-6E8A-4147-A177-3AD203B41FA5}">
                      <a16:colId xmlns:a16="http://schemas.microsoft.com/office/drawing/2014/main" val="467889290"/>
                    </a:ext>
                  </a:extLst>
                </a:gridCol>
                <a:gridCol w="2009794">
                  <a:extLst>
                    <a:ext uri="{9D8B030D-6E8A-4147-A177-3AD203B41FA5}">
                      <a16:colId xmlns:a16="http://schemas.microsoft.com/office/drawing/2014/main" val="2433319315"/>
                    </a:ext>
                  </a:extLst>
                </a:gridCol>
                <a:gridCol w="2009794">
                  <a:extLst>
                    <a:ext uri="{9D8B030D-6E8A-4147-A177-3AD203B41FA5}">
                      <a16:colId xmlns:a16="http://schemas.microsoft.com/office/drawing/2014/main" val="711373243"/>
                    </a:ext>
                  </a:extLst>
                </a:gridCol>
              </a:tblGrid>
              <a:tr h="299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Milestone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Category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Task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Details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Status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682229"/>
                  </a:ext>
                </a:extLst>
              </a:tr>
              <a:tr h="793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Milestone 3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Integration</a:t>
                      </a: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Auth Link</a:t>
                      </a: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Connect Login/Register UI to Backend; store JWT in browser.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</a:t>
                      </a:r>
                      <a:r>
                        <a:rPr lang="en-IN" sz="1400" b="1" dirty="0"/>
                        <a:t>DONE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831741"/>
                  </a:ext>
                </a:extLst>
              </a:tr>
              <a:tr h="7931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Dynamic UI</a:t>
                      </a: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Replace static dashboard tables with live data fetched from the database.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</a:t>
                      </a:r>
                      <a:r>
                        <a:rPr lang="en-IN" sz="1400" b="1" dirty="0"/>
                        <a:t>DONE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394814"/>
                  </a:ext>
                </a:extLst>
              </a:tr>
              <a:tr h="7931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Case Routing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Enable Admin to assign complaints and Staff to update resolution status.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</a:t>
                      </a:r>
                      <a:r>
                        <a:rPr lang="en-IN" sz="1400" b="1" dirty="0"/>
                        <a:t>DONE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067215"/>
                  </a:ext>
                </a:extLst>
              </a:tr>
              <a:tr h="7931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Email Notifications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Set up the mail notification system for grievance status updates.</a:t>
                      </a:r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</a:t>
                      </a:r>
                      <a:r>
                        <a:rPr lang="en-IN" sz="1400" b="1" dirty="0"/>
                        <a:t>DONE</a:t>
                      </a:r>
                      <a:endParaRPr lang="en-IN" sz="1400" dirty="0"/>
                    </a:p>
                  </a:txBody>
                  <a:tcPr marL="23495" marR="23495" marT="11747" marB="11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0541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9E0A033-2322-3B65-2253-9D0A16EC0627}"/>
              </a:ext>
            </a:extLst>
          </p:cNvPr>
          <p:cNvSpPr/>
          <p:nvPr/>
        </p:nvSpPr>
        <p:spPr>
          <a:xfrm>
            <a:off x="867266" y="2158738"/>
            <a:ext cx="10221798" cy="43457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2A76D66-4C2E-54FA-7965-42E37250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                                             </a:t>
            </a:r>
            <a:r>
              <a:rPr lang="en-IN" dirty="0"/>
              <a:t>To-Do List</a:t>
            </a:r>
          </a:p>
        </p:txBody>
      </p:sp>
    </p:spTree>
    <p:extLst>
      <p:ext uri="{BB962C8B-B14F-4D97-AF65-F5344CB8AC3E}">
        <p14:creationId xmlns:p14="http://schemas.microsoft.com/office/powerpoint/2010/main" val="357317930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207</TotalTime>
  <Words>515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Unicode MS</vt:lpstr>
      <vt:lpstr>Courier New</vt:lpstr>
      <vt:lpstr>Gill Sans MT</vt:lpstr>
      <vt:lpstr>Google Sans Text</vt:lpstr>
      <vt:lpstr>Wingdings 2</vt:lpstr>
      <vt:lpstr>Dividend</vt:lpstr>
      <vt:lpstr>PowerPoint Presentation</vt:lpstr>
      <vt:lpstr>                           IN MILESTONE -1</vt:lpstr>
      <vt:lpstr>                           IN MILESTONE -2</vt:lpstr>
      <vt:lpstr>                                         MILESTONE - 3</vt:lpstr>
      <vt:lpstr>                                         MILESTONE - 3</vt:lpstr>
      <vt:lpstr>                                             To-Do List</vt:lpstr>
      <vt:lpstr>                                             To-Do List</vt:lpstr>
      <vt:lpstr>                                             To-Do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Prerak Bisen</dc:creator>
  <cp:lastModifiedBy>Prerak Bisen</cp:lastModifiedBy>
  <cp:revision>1</cp:revision>
  <dcterms:created xsi:type="dcterms:W3CDTF">2025-12-26T09:39:55Z</dcterms:created>
  <dcterms:modified xsi:type="dcterms:W3CDTF">2025-12-26T13:07:32Z</dcterms:modified>
</cp:coreProperties>
</file>