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81" r:id="rId11"/>
    <p:sldId id="277" r:id="rId12"/>
    <p:sldId id="278" r:id="rId13"/>
    <p:sldId id="282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78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52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3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32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3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78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09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8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63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1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350A3B0-6F7C-4E5F-B86A-119715B105F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879A3B7-1FCA-4631-B09B-6E39022B62B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097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DC4E39-222D-90BA-FA65-D5B8E3B786B5}"/>
              </a:ext>
            </a:extLst>
          </p:cNvPr>
          <p:cNvSpPr txBox="1">
            <a:spLocks/>
          </p:cNvSpPr>
          <p:nvPr/>
        </p:nvSpPr>
        <p:spPr>
          <a:xfrm>
            <a:off x="599225" y="923803"/>
            <a:ext cx="10993549" cy="6858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600" dirty="0"/>
              <a:t>          </a:t>
            </a:r>
            <a:r>
              <a:rPr lang="en-IN" sz="3600" dirty="0">
                <a:solidFill>
                  <a:schemeClr val="accent1"/>
                </a:solidFill>
              </a:rPr>
              <a:t>HEALTHCARE GRIEVANCE SYSTEM (HGS)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8DFBF9-72AB-F772-11E6-9DF49DE9A60C}"/>
              </a:ext>
            </a:extLst>
          </p:cNvPr>
          <p:cNvSpPr txBox="1">
            <a:spLocks/>
          </p:cNvSpPr>
          <p:nvPr/>
        </p:nvSpPr>
        <p:spPr>
          <a:xfrm>
            <a:off x="599228" y="1609624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chemeClr val="accent1"/>
                </a:solidFill>
              </a:rPr>
              <a:t>Resolve Complaints. Improve Care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6EAE9-63B9-D8B4-847D-9F6512FC8DE7}"/>
              </a:ext>
            </a:extLst>
          </p:cNvPr>
          <p:cNvSpPr/>
          <p:nvPr/>
        </p:nvSpPr>
        <p:spPr>
          <a:xfrm>
            <a:off x="3399620" y="3938296"/>
            <a:ext cx="53927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MILESTONE - 2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642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3109-EEF9-4A34-D499-0121160C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                          IN MILESTONE -1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A1A7-D627-CEE9-63D1-86D3061E8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642" y="2369033"/>
            <a:ext cx="11029615" cy="3678303"/>
          </a:xfrm>
        </p:spPr>
        <p:txBody>
          <a:bodyPr/>
          <a:lstStyle/>
          <a:p>
            <a:r>
              <a:rPr lang="en-US" sz="2400" b="1" dirty="0"/>
              <a:t>Major Problems in Current Grievance Handling</a:t>
            </a:r>
            <a:endParaRPr lang="en-US" sz="2400" dirty="0"/>
          </a:p>
          <a:p>
            <a:pPr lvl="1"/>
            <a:r>
              <a:rPr lang="en-US" sz="2000" dirty="0"/>
              <a:t>Manual/Paper-Based Systems → hard to track, sort, report</a:t>
            </a:r>
          </a:p>
          <a:p>
            <a:pPr lvl="1"/>
            <a:r>
              <a:rPr lang="en-US" sz="2000" dirty="0"/>
              <a:t>Slow Routing &amp; Assignment → delays in resolution</a:t>
            </a:r>
          </a:p>
          <a:p>
            <a:pPr lvl="1"/>
            <a:r>
              <a:rPr lang="en-US" sz="2000" dirty="0"/>
              <a:t>No Feedback Loop → no patient satisfaction tracking</a:t>
            </a:r>
          </a:p>
          <a:p>
            <a:pPr lvl="1"/>
            <a:r>
              <a:rPr lang="en-US" sz="2000" dirty="0"/>
              <a:t>Inconsistent Communication → confusion, loss of trust</a:t>
            </a:r>
          </a:p>
          <a:p>
            <a:r>
              <a:rPr lang="en-US" sz="2400" b="1" dirty="0"/>
              <a:t>Introduction of HGS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i="1" dirty="0"/>
              <a:t>      -- Resolve Complaints. Improve Care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56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9CEE3-57DF-DBAB-20C7-87A5D2A6B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820" y="2341656"/>
            <a:ext cx="4358452" cy="2174687"/>
          </a:xfrm>
        </p:spPr>
        <p:txBody>
          <a:bodyPr>
            <a:normAutofit/>
          </a:bodyPr>
          <a:lstStyle/>
          <a:p>
            <a:r>
              <a:rPr lang="en-IN" b="1" dirty="0"/>
              <a:t>Key User Roles</a:t>
            </a:r>
            <a:endParaRPr lang="en-IN" dirty="0"/>
          </a:p>
          <a:p>
            <a:pPr lvl="1"/>
            <a:r>
              <a:rPr lang="en-IN" dirty="0"/>
              <a:t>Patient</a:t>
            </a:r>
          </a:p>
          <a:p>
            <a:pPr lvl="1"/>
            <a:r>
              <a:rPr lang="en-IN" dirty="0"/>
              <a:t>Staff</a:t>
            </a:r>
          </a:p>
          <a:p>
            <a:pPr lvl="1"/>
            <a:r>
              <a:rPr lang="en-IN" dirty="0"/>
              <a:t>Admin</a:t>
            </a:r>
          </a:p>
          <a:p>
            <a:pPr marL="3240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D3610E-139D-CEA8-261E-4204CDD8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1675"/>
            <a:ext cx="11029950" cy="1014413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       IN MILESTONE -1</a:t>
            </a:r>
            <a:endParaRPr lang="en-IN" sz="3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157F0C-D024-EA04-9921-978BC271A980}"/>
              </a:ext>
            </a:extLst>
          </p:cNvPr>
          <p:cNvSpPr txBox="1">
            <a:spLocks/>
          </p:cNvSpPr>
          <p:nvPr/>
        </p:nvSpPr>
        <p:spPr>
          <a:xfrm>
            <a:off x="6564326" y="1444027"/>
            <a:ext cx="5322874" cy="342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Tech Stack</a:t>
            </a:r>
            <a:endParaRPr lang="en-IN" dirty="0"/>
          </a:p>
          <a:p>
            <a:pPr lvl="1"/>
            <a:r>
              <a:rPr lang="en-IN" dirty="0"/>
              <a:t>Frontend: HTML, CSS, JavaScript</a:t>
            </a:r>
          </a:p>
          <a:p>
            <a:pPr lvl="1"/>
            <a:r>
              <a:rPr lang="en-IN" dirty="0"/>
              <a:t>Backend: Java with Spring Boot (JDK 25, Spring Boot 4.0.0)</a:t>
            </a:r>
          </a:p>
          <a:p>
            <a:pPr lvl="1"/>
            <a:r>
              <a:rPr lang="en-IN" dirty="0"/>
              <a:t>Database: MySQL</a:t>
            </a:r>
          </a:p>
          <a:p>
            <a:pPr lvl="1"/>
            <a:r>
              <a:rPr lang="en-IN" dirty="0"/>
              <a:t>Styling/UI: Tailwind CSS or pure CSS</a:t>
            </a:r>
            <a:endParaRPr lang="en-IN" dirty="0">
              <a:effectLst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5F5C6E-500A-CD2D-F546-3723DAAD038C}"/>
              </a:ext>
            </a:extLst>
          </p:cNvPr>
          <p:cNvSpPr txBox="1">
            <a:spLocks/>
          </p:cNvSpPr>
          <p:nvPr/>
        </p:nvSpPr>
        <p:spPr>
          <a:xfrm>
            <a:off x="3480229" y="4119513"/>
            <a:ext cx="3984063" cy="2881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Tools</a:t>
            </a:r>
            <a:endParaRPr lang="en-US" dirty="0"/>
          </a:p>
          <a:p>
            <a:pPr lvl="1"/>
            <a:r>
              <a:rPr lang="en-US" dirty="0"/>
              <a:t>API Testing: Postman</a:t>
            </a:r>
          </a:p>
          <a:p>
            <a:pPr lvl="1"/>
            <a:r>
              <a:rPr lang="en-US" dirty="0"/>
              <a:t>Version Control: Git &amp; GitHub</a:t>
            </a:r>
          </a:p>
          <a:p>
            <a:pPr lvl="1"/>
            <a:r>
              <a:rPr lang="en-US" dirty="0"/>
              <a:t>Deployment: </a:t>
            </a:r>
            <a:r>
              <a:rPr lang="en-US" dirty="0" err="1"/>
              <a:t>Vercel</a:t>
            </a:r>
            <a:r>
              <a:rPr lang="en-US" dirty="0"/>
              <a:t>/Netlify (Frontend), AWS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E603D9-7719-AEA6-61B8-FE6637934C76}"/>
              </a:ext>
            </a:extLst>
          </p:cNvPr>
          <p:cNvSpPr/>
          <p:nvPr/>
        </p:nvSpPr>
        <p:spPr>
          <a:xfrm>
            <a:off x="1018094" y="2009362"/>
            <a:ext cx="3912124" cy="21534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5D002A-F3EF-2F4D-71DB-8430169710DC}"/>
              </a:ext>
            </a:extLst>
          </p:cNvPr>
          <p:cNvSpPr/>
          <p:nvPr/>
        </p:nvSpPr>
        <p:spPr>
          <a:xfrm>
            <a:off x="6212264" y="2052684"/>
            <a:ext cx="5486399" cy="21746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AAD9AD-C118-5F04-0067-24A01057CBF7}"/>
              </a:ext>
            </a:extLst>
          </p:cNvPr>
          <p:cNvSpPr/>
          <p:nvPr/>
        </p:nvSpPr>
        <p:spPr>
          <a:xfrm>
            <a:off x="3214540" y="4602093"/>
            <a:ext cx="4590854" cy="20456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82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2057B-EC3C-A6A1-467C-A071DCA03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315" y="1716088"/>
            <a:ext cx="8072614" cy="2466918"/>
          </a:xfrm>
        </p:spPr>
        <p:txBody>
          <a:bodyPr/>
          <a:lstStyle/>
          <a:p>
            <a:r>
              <a:rPr lang="en-IN" b="1" dirty="0"/>
              <a:t>To‑Do List &amp; Progress</a:t>
            </a:r>
            <a:endParaRPr lang="en-IN" dirty="0"/>
          </a:p>
          <a:p>
            <a:pPr lvl="1"/>
            <a:r>
              <a:rPr lang="en-IN" dirty="0"/>
              <a:t>Phase 1 (Frontend UI): Login/Register, Home, Patient/Admin/Staff Dashboards ✅ Done</a:t>
            </a:r>
          </a:p>
          <a:p>
            <a:pPr lvl="1"/>
            <a:r>
              <a:rPr lang="en-IN" dirty="0"/>
              <a:t>Phase 2 (Backend): DB Schema, Auth API, RBAC, Postman Testing 🔄 In Progress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E5DCDD-205C-6771-B272-0B8E6CFD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       IN MILESTONE -1</a:t>
            </a:r>
            <a:endParaRPr lang="en-IN" sz="3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A712EC-23F9-2CE1-17A0-1A2EA2AB1EE4}"/>
              </a:ext>
            </a:extLst>
          </p:cNvPr>
          <p:cNvSpPr txBox="1">
            <a:spLocks/>
          </p:cNvSpPr>
          <p:nvPr/>
        </p:nvSpPr>
        <p:spPr>
          <a:xfrm>
            <a:off x="1250328" y="3689406"/>
            <a:ext cx="4160657" cy="2466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Planned Diagrams</a:t>
            </a:r>
            <a:endParaRPr lang="en-US" dirty="0"/>
          </a:p>
          <a:p>
            <a:pPr lvl="1"/>
            <a:r>
              <a:rPr lang="en-US" dirty="0"/>
              <a:t>Use Case Diagram</a:t>
            </a:r>
          </a:p>
          <a:p>
            <a:pPr lvl="1"/>
            <a:r>
              <a:rPr lang="en-US" dirty="0"/>
              <a:t>Entity Relationship Diagram (ERD)</a:t>
            </a:r>
          </a:p>
          <a:p>
            <a:pPr lvl="1"/>
            <a:r>
              <a:rPr lang="en-US" dirty="0"/>
              <a:t>Work Flow Diagram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C4EBDF-9333-32B1-A513-1C35CF5D8DB2}"/>
              </a:ext>
            </a:extLst>
          </p:cNvPr>
          <p:cNvSpPr txBox="1">
            <a:spLocks/>
          </p:cNvSpPr>
          <p:nvPr/>
        </p:nvSpPr>
        <p:spPr>
          <a:xfrm>
            <a:off x="7002249" y="3789101"/>
            <a:ext cx="4160657" cy="2466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Future Scope</a:t>
            </a:r>
            <a:endParaRPr lang="en-US" dirty="0"/>
          </a:p>
          <a:p>
            <a:pPr lvl="1"/>
            <a:r>
              <a:rPr lang="en-US" dirty="0"/>
              <a:t>Mobile App for grievance submission &amp; tracking</a:t>
            </a:r>
          </a:p>
          <a:p>
            <a:pPr lvl="1"/>
            <a:r>
              <a:rPr lang="en-US" dirty="0"/>
              <a:t>Real‑Time Chat between patients &amp; staff</a:t>
            </a:r>
          </a:p>
          <a:p>
            <a:pPr lvl="1"/>
            <a:r>
              <a:rPr lang="en-US" dirty="0"/>
              <a:t>Multi‑Lingual Support for diverse users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1062DE-BE39-C0E6-68C8-3CC754FC7AF5}"/>
              </a:ext>
            </a:extLst>
          </p:cNvPr>
          <p:cNvSpPr/>
          <p:nvPr/>
        </p:nvSpPr>
        <p:spPr>
          <a:xfrm>
            <a:off x="904973" y="4053526"/>
            <a:ext cx="4506012" cy="21027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71B12D-7A6B-D7C9-6531-78767ECD78DE}"/>
              </a:ext>
            </a:extLst>
          </p:cNvPr>
          <p:cNvSpPr/>
          <p:nvPr/>
        </p:nvSpPr>
        <p:spPr>
          <a:xfrm>
            <a:off x="6829572" y="4053525"/>
            <a:ext cx="4506012" cy="21027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F0BAAE-A78D-F1F0-B487-E2E4AF0CF935}"/>
              </a:ext>
            </a:extLst>
          </p:cNvPr>
          <p:cNvSpPr/>
          <p:nvPr/>
        </p:nvSpPr>
        <p:spPr>
          <a:xfrm>
            <a:off x="1527927" y="2077712"/>
            <a:ext cx="9001813" cy="16116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FDC3-BA46-59D6-FAAC-876831CB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89" y="693753"/>
            <a:ext cx="11029616" cy="1013800"/>
          </a:xfrm>
        </p:spPr>
        <p:txBody>
          <a:bodyPr/>
          <a:lstStyle/>
          <a:p>
            <a:r>
              <a:rPr lang="en-US" dirty="0"/>
              <a:t>                                          MILESTONE - 2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CEBC8D-ABFB-E683-DCD8-F0328255DCBB}"/>
              </a:ext>
            </a:extLst>
          </p:cNvPr>
          <p:cNvSpPr/>
          <p:nvPr/>
        </p:nvSpPr>
        <p:spPr>
          <a:xfrm>
            <a:off x="3960923" y="2005801"/>
            <a:ext cx="34674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PHASE - 2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97D79F-DF89-8503-C10B-6747D2C56CA6}"/>
              </a:ext>
            </a:extLst>
          </p:cNvPr>
          <p:cNvSpPr/>
          <p:nvPr/>
        </p:nvSpPr>
        <p:spPr>
          <a:xfrm>
            <a:off x="4590854" y="2005801"/>
            <a:ext cx="2366127" cy="4616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631286DE-79E9-8B70-672D-22A59E3E05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51728" y="2236633"/>
            <a:ext cx="3139126" cy="1288992"/>
          </a:xfrm>
          <a:prstGeom prst="curvedConnector3">
            <a:avLst>
              <a:gd name="adj1" fmla="val 1004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651E29AF-1A3B-9EB9-8ADE-66C508C74AF8}"/>
              </a:ext>
            </a:extLst>
          </p:cNvPr>
          <p:cNvCxnSpPr>
            <a:cxnSpLocks/>
          </p:cNvCxnSpPr>
          <p:nvPr/>
        </p:nvCxnSpPr>
        <p:spPr>
          <a:xfrm>
            <a:off x="6956981" y="2236634"/>
            <a:ext cx="3374796" cy="1288992"/>
          </a:xfrm>
          <a:prstGeom prst="curvedConnector3">
            <a:avLst>
              <a:gd name="adj1" fmla="val 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4227238-1885-0831-DE94-3CE42542893E}"/>
              </a:ext>
            </a:extLst>
          </p:cNvPr>
          <p:cNvSpPr/>
          <p:nvPr/>
        </p:nvSpPr>
        <p:spPr>
          <a:xfrm>
            <a:off x="216815" y="3525626"/>
            <a:ext cx="4883085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 Creation</a:t>
            </a:r>
          </a:p>
          <a:p>
            <a:pPr algn="ctr"/>
            <a:r>
              <a:rPr lang="en-IN" dirty="0"/>
              <a:t>Database Schema (MySQL), </a:t>
            </a:r>
          </a:p>
          <a:p>
            <a:pPr algn="ctr"/>
            <a:r>
              <a:rPr lang="en-IN" dirty="0"/>
              <a:t>Core API endpoints (Submission, Retrieval, Update), </a:t>
            </a:r>
          </a:p>
          <a:p>
            <a:pPr algn="ctr"/>
            <a:r>
              <a:rPr lang="en-IN" dirty="0"/>
              <a:t>JWT Authentication 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E55AAC-29FE-A5E2-E9B1-58C7C97768E4}"/>
              </a:ext>
            </a:extLst>
          </p:cNvPr>
          <p:cNvSpPr/>
          <p:nvPr/>
        </p:nvSpPr>
        <p:spPr>
          <a:xfrm>
            <a:off x="6971907" y="3525626"/>
            <a:ext cx="5093618" cy="15815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Connecting Backend to Frontend</a:t>
            </a:r>
          </a:p>
          <a:p>
            <a:pPr algn="ctr">
              <a:lnSpc>
                <a:spcPct val="200000"/>
              </a:lnSpc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be done in milestone 3</a:t>
            </a:r>
            <a:r>
              <a:rPr lang="en-IN" sz="1600" dirty="0"/>
              <a:t> </a:t>
            </a:r>
            <a:endParaRPr lang="en-US" sz="16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0D412A8-375B-D0EB-ACC7-2243DBB0AD73}"/>
              </a:ext>
            </a:extLst>
          </p:cNvPr>
          <p:cNvSpPr/>
          <p:nvPr/>
        </p:nvSpPr>
        <p:spPr>
          <a:xfrm>
            <a:off x="216815" y="3525626"/>
            <a:ext cx="4760538" cy="2516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99A5904-6639-36C5-6F58-DEE78EFBF5B8}"/>
              </a:ext>
            </a:extLst>
          </p:cNvPr>
          <p:cNvSpPr/>
          <p:nvPr/>
        </p:nvSpPr>
        <p:spPr>
          <a:xfrm>
            <a:off x="7062247" y="3525626"/>
            <a:ext cx="4912938" cy="2516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2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1FE4-3EA6-C58F-D777-8AFA15F4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           To-Do 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AB5B2-6648-067D-D19A-08DD8F5DDFFC}"/>
              </a:ext>
            </a:extLst>
          </p:cNvPr>
          <p:cNvSpPr/>
          <p:nvPr/>
        </p:nvSpPr>
        <p:spPr>
          <a:xfrm>
            <a:off x="3333669" y="1920960"/>
            <a:ext cx="552466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200" dirty="0"/>
              <a:t>Setup and Environment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9B33766-D9AD-DBC7-4216-53502BFFB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482664"/>
              </p:ext>
            </p:extLst>
          </p:nvPr>
        </p:nvGraphicFramePr>
        <p:xfrm>
          <a:off x="1480008" y="2710739"/>
          <a:ext cx="10130801" cy="3526154"/>
        </p:xfrm>
        <a:graphic>
          <a:graphicData uri="http://schemas.openxmlformats.org/drawingml/2006/table">
            <a:tbl>
              <a:tblPr/>
              <a:tblGrid>
                <a:gridCol w="2083324">
                  <a:extLst>
                    <a:ext uri="{9D8B030D-6E8A-4147-A177-3AD203B41FA5}">
                      <a16:colId xmlns:a16="http://schemas.microsoft.com/office/drawing/2014/main" val="4192296071"/>
                    </a:ext>
                  </a:extLst>
                </a:gridCol>
                <a:gridCol w="3440783">
                  <a:extLst>
                    <a:ext uri="{9D8B030D-6E8A-4147-A177-3AD203B41FA5}">
                      <a16:colId xmlns:a16="http://schemas.microsoft.com/office/drawing/2014/main" val="830062212"/>
                    </a:ext>
                  </a:extLst>
                </a:gridCol>
                <a:gridCol w="4606694">
                  <a:extLst>
                    <a:ext uri="{9D8B030D-6E8A-4147-A177-3AD203B41FA5}">
                      <a16:colId xmlns:a16="http://schemas.microsoft.com/office/drawing/2014/main" val="4157243157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Status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Task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Details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645190"/>
                  </a:ext>
                </a:extLst>
              </a:tr>
              <a:tr h="916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</a:t>
                      </a:r>
                      <a:r>
                        <a:rPr lang="en-IN" sz="1400" dirty="0"/>
                        <a:t>ONE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Project Initialization</a:t>
                      </a:r>
                      <a:endParaRPr lang="en-IN" sz="1400"/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Create the Spring Boot project via </a:t>
                      </a:r>
                      <a:r>
                        <a:rPr lang="en-US" sz="1400" b="1" dirty="0"/>
                        <a:t>start.spring.io</a:t>
                      </a:r>
                      <a:r>
                        <a:rPr lang="en-US" sz="1400" dirty="0"/>
                        <a:t> with required dependencies (Web, Data JPA, MySQL Driver, Security).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920907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</a:t>
                      </a:r>
                      <a:r>
                        <a:rPr lang="en-IN" sz="1400" dirty="0"/>
                        <a:t>ONE</a:t>
                      </a:r>
                    </a:p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IDE Setup</a:t>
                      </a:r>
                      <a:endParaRPr lang="en-IN" sz="1400" dirty="0"/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Import the generated project into your IDE (VS Code) and ensure it compiles successfully.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71333"/>
                  </a:ext>
                </a:extLst>
              </a:tr>
              <a:tr h="916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</a:t>
                      </a:r>
                      <a:r>
                        <a:rPr lang="en-IN" sz="1400" dirty="0"/>
                        <a:t>ONE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Database Configuration</a:t>
                      </a:r>
                      <a:endParaRPr lang="en-IN" sz="1400"/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Configure the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application.properties</a:t>
                      </a:r>
                      <a:r>
                        <a:rPr lang="en-US" sz="1400"/>
                        <a:t> file with correct MySQL URL, username, and password.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930616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</a:t>
                      </a:r>
                      <a:r>
                        <a:rPr lang="en-IN" sz="1400" dirty="0"/>
                        <a:t>ONE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Confirm DB Connection</a:t>
                      </a:r>
                      <a:endParaRPr lang="en-IN" sz="1400"/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Ensure the database is running and Spring Boot successfully connects upon startup (check console logs).</a:t>
                      </a:r>
                    </a:p>
                  </a:txBody>
                  <a:tcPr marL="70485" marR="70485" marT="35242" marB="35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623404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FD0F63-347E-8721-475E-55DC46EFA84A}"/>
              </a:ext>
            </a:extLst>
          </p:cNvPr>
          <p:cNvSpPr/>
          <p:nvPr/>
        </p:nvSpPr>
        <p:spPr>
          <a:xfrm>
            <a:off x="1131216" y="2696065"/>
            <a:ext cx="10586301" cy="39498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03956E-956E-1E81-CEAB-1B327F17EDE1}"/>
              </a:ext>
            </a:extLst>
          </p:cNvPr>
          <p:cNvCxnSpPr>
            <a:cxnSpLocks/>
          </p:cNvCxnSpPr>
          <p:nvPr/>
        </p:nvCxnSpPr>
        <p:spPr>
          <a:xfrm>
            <a:off x="1197204" y="3073138"/>
            <a:ext cx="104136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07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CFF00-1FA8-E0AB-541E-78028EE07ADC}"/>
              </a:ext>
            </a:extLst>
          </p:cNvPr>
          <p:cNvSpPr/>
          <p:nvPr/>
        </p:nvSpPr>
        <p:spPr>
          <a:xfrm>
            <a:off x="1131216" y="2696065"/>
            <a:ext cx="10586301" cy="39498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A3AB09-BB5D-8271-5FBD-ED0188721789}"/>
              </a:ext>
            </a:extLst>
          </p:cNvPr>
          <p:cNvCxnSpPr>
            <a:cxnSpLocks/>
          </p:cNvCxnSpPr>
          <p:nvPr/>
        </p:nvCxnSpPr>
        <p:spPr>
          <a:xfrm>
            <a:off x="1197204" y="3073138"/>
            <a:ext cx="104136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E97164-B6EE-CF49-AA79-3F06109EA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718003"/>
              </p:ext>
            </p:extLst>
          </p:nvPr>
        </p:nvGraphicFramePr>
        <p:xfrm>
          <a:off x="1641077" y="2696065"/>
          <a:ext cx="9969732" cy="3693088"/>
        </p:xfrm>
        <a:graphic>
          <a:graphicData uri="http://schemas.openxmlformats.org/drawingml/2006/table">
            <a:tbl>
              <a:tblPr/>
              <a:tblGrid>
                <a:gridCol w="1696012">
                  <a:extLst>
                    <a:ext uri="{9D8B030D-6E8A-4147-A177-3AD203B41FA5}">
                      <a16:colId xmlns:a16="http://schemas.microsoft.com/office/drawing/2014/main" val="1571940528"/>
                    </a:ext>
                  </a:extLst>
                </a:gridCol>
                <a:gridCol w="3525624">
                  <a:extLst>
                    <a:ext uri="{9D8B030D-6E8A-4147-A177-3AD203B41FA5}">
                      <a16:colId xmlns:a16="http://schemas.microsoft.com/office/drawing/2014/main" val="854308065"/>
                    </a:ext>
                  </a:extLst>
                </a:gridCol>
                <a:gridCol w="4748096">
                  <a:extLst>
                    <a:ext uri="{9D8B030D-6E8A-4147-A177-3AD203B41FA5}">
                      <a16:colId xmlns:a16="http://schemas.microsoft.com/office/drawing/2014/main" val="1941252336"/>
                    </a:ext>
                  </a:extLst>
                </a:gridCol>
              </a:tblGrid>
              <a:tr h="315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Status</a:t>
                      </a:r>
                      <a:endParaRPr lang="en-IN" sz="1200" dirty="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Task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Details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19501"/>
                  </a:ext>
                </a:extLst>
              </a:tr>
              <a:tr h="828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☐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Grievance Entity</a:t>
                      </a:r>
                      <a:endParaRPr lang="en-IN" sz="1200" dirty="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 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Grievance.java</a:t>
                      </a:r>
                      <a:r>
                        <a:rPr lang="en-US" sz="1200"/>
                        <a:t> Entity with fields (ID, Subject, Category, Details, Status, Reporter ID).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939930"/>
                  </a:ext>
                </a:extLst>
              </a:tr>
              <a:tr h="637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☐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User Entity</a:t>
                      </a:r>
                      <a:endParaRPr lang="en-IN" sz="120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 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User.java</a:t>
                      </a:r>
                      <a:r>
                        <a:rPr lang="en-US" sz="1200"/>
                        <a:t> Entity (Username, Password/Hash, Email, </a:t>
                      </a:r>
                      <a:r>
                        <a:rPr lang="en-US" sz="1200" b="1"/>
                        <a:t>Role</a:t>
                      </a:r>
                      <a:r>
                        <a:rPr lang="en-US" sz="1200"/>
                        <a:t>).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750115"/>
                  </a:ext>
                </a:extLst>
              </a:tr>
              <a:tr h="637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☐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Role Entity</a:t>
                      </a:r>
                      <a:endParaRPr lang="en-IN" sz="1200" dirty="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 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Role.java</a:t>
                      </a:r>
                      <a:r>
                        <a:rPr lang="en-US" sz="1200"/>
                        <a:t> Entity (Role ID, Role Name: e.g., "PATIENT", "STAFF", "ADMIN").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32962"/>
                  </a:ext>
                </a:extLst>
              </a:tr>
              <a:tr h="637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☐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Grievance Repository</a:t>
                      </a:r>
                      <a:endParaRPr lang="en-IN" sz="120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 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GrievanceRepository.java</a:t>
                      </a:r>
                      <a:r>
                        <a:rPr lang="en-US" sz="1200"/>
                        <a:t> extending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JpaRepository</a:t>
                      </a:r>
                      <a:r>
                        <a:rPr lang="en-US" sz="1200"/>
                        <a:t>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84249"/>
                  </a:ext>
                </a:extLst>
              </a:tr>
              <a:tr h="637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☐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User Repository</a:t>
                      </a:r>
                      <a:endParaRPr lang="en-IN" sz="120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Create the 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UserRepository.java</a:t>
                      </a:r>
                      <a:r>
                        <a:rPr lang="en-US" sz="1200" dirty="0"/>
                        <a:t> extending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JpaRepository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61512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C97DB51-3BA9-4DF8-00EB-DF5E81CF9589}"/>
              </a:ext>
            </a:extLst>
          </p:cNvPr>
          <p:cNvSpPr/>
          <p:nvPr/>
        </p:nvSpPr>
        <p:spPr>
          <a:xfrm>
            <a:off x="4807488" y="1913623"/>
            <a:ext cx="229421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200" dirty="0"/>
              <a:t>Data Models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696EAE4-DC5C-D04F-4FAB-1EF418F82F54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                                              To-Do List</a:t>
            </a:r>
          </a:p>
        </p:txBody>
      </p:sp>
    </p:spTree>
    <p:extLst>
      <p:ext uri="{BB962C8B-B14F-4D97-AF65-F5344CB8AC3E}">
        <p14:creationId xmlns:p14="http://schemas.microsoft.com/office/powerpoint/2010/main" val="118925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842344E-8C31-3629-20FC-AA299AC8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IN" dirty="0"/>
              <a:t>                                              To-Do List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EE3362-9484-8346-880B-73567A7874DC}"/>
              </a:ext>
            </a:extLst>
          </p:cNvPr>
          <p:cNvSpPr/>
          <p:nvPr/>
        </p:nvSpPr>
        <p:spPr>
          <a:xfrm>
            <a:off x="886119" y="2516955"/>
            <a:ext cx="10586301" cy="39498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25A978-783E-403F-984D-28F752298A1C}"/>
              </a:ext>
            </a:extLst>
          </p:cNvPr>
          <p:cNvCxnSpPr>
            <a:cxnSpLocks/>
          </p:cNvCxnSpPr>
          <p:nvPr/>
        </p:nvCxnSpPr>
        <p:spPr>
          <a:xfrm>
            <a:off x="952107" y="2894028"/>
            <a:ext cx="104136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4764FF-498A-3D66-6E76-B5C35EA67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974393"/>
              </p:ext>
            </p:extLst>
          </p:nvPr>
        </p:nvGraphicFramePr>
        <p:xfrm>
          <a:off x="1234911" y="2516954"/>
          <a:ext cx="10130801" cy="3853560"/>
        </p:xfrm>
        <a:graphic>
          <a:graphicData uri="http://schemas.openxmlformats.org/drawingml/2006/table">
            <a:tbl>
              <a:tblPr/>
              <a:tblGrid>
                <a:gridCol w="1665938">
                  <a:extLst>
                    <a:ext uri="{9D8B030D-6E8A-4147-A177-3AD203B41FA5}">
                      <a16:colId xmlns:a16="http://schemas.microsoft.com/office/drawing/2014/main" val="1571940528"/>
                    </a:ext>
                  </a:extLst>
                </a:gridCol>
                <a:gridCol w="3640058">
                  <a:extLst>
                    <a:ext uri="{9D8B030D-6E8A-4147-A177-3AD203B41FA5}">
                      <a16:colId xmlns:a16="http://schemas.microsoft.com/office/drawing/2014/main" val="854308065"/>
                    </a:ext>
                  </a:extLst>
                </a:gridCol>
                <a:gridCol w="4824805">
                  <a:extLst>
                    <a:ext uri="{9D8B030D-6E8A-4147-A177-3AD203B41FA5}">
                      <a16:colId xmlns:a16="http://schemas.microsoft.com/office/drawing/2014/main" val="1941252336"/>
                    </a:ext>
                  </a:extLst>
                </a:gridCol>
              </a:tblGrid>
              <a:tr h="374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Status</a:t>
                      </a:r>
                      <a:endParaRPr lang="en-IN" sz="1200" dirty="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Task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Details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19501"/>
                  </a:ext>
                </a:extLst>
              </a:tr>
              <a:tr h="98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DONE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User Registration 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User Creation:</a:t>
                      </a:r>
                      <a:r>
                        <a:rPr lang="en-US" sz="1200" dirty="0"/>
                        <a:t> Create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en-US" sz="1200" dirty="0"/>
                        <a:t> and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Role</a:t>
                      </a:r>
                      <a:r>
                        <a:rPr lang="en-US" sz="1200" dirty="0"/>
                        <a:t> models. Implement logic to save a new user (defaulting to </a:t>
                      </a:r>
                      <a:r>
                        <a:rPr lang="en-US" sz="1200" b="1" dirty="0"/>
                        <a:t>PATIENT</a:t>
                      </a:r>
                      <a:r>
                        <a:rPr lang="en-US" sz="1200" dirty="0"/>
                        <a:t> role) with a </a:t>
                      </a:r>
                      <a:r>
                        <a:rPr lang="en-US" sz="1200" b="1" dirty="0" err="1"/>
                        <a:t>BCrypt</a:t>
                      </a:r>
                      <a:r>
                        <a:rPr lang="en-US" sz="1200" dirty="0"/>
                        <a:t> hashed password.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939930"/>
                  </a:ext>
                </a:extLst>
              </a:tr>
              <a:tr h="943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DONE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User Login 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Authentication:</a:t>
                      </a:r>
                      <a:r>
                        <a:rPr lang="en-US" sz="1200" dirty="0"/>
                        <a:t> Create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AuthController</a:t>
                      </a:r>
                      <a:r>
                        <a:rPr lang="en-US" sz="1200" dirty="0"/>
                        <a:t>. Implement logic to validate credentials and use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JwtTokenProvider</a:t>
                      </a:r>
                      <a:r>
                        <a:rPr lang="en-US" sz="1200" dirty="0"/>
                        <a:t> to </a:t>
                      </a:r>
                      <a:r>
                        <a:rPr lang="en-US" sz="1200" b="1" dirty="0"/>
                        <a:t>generate and return the JWT Token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750115"/>
                  </a:ext>
                </a:extLst>
              </a:tr>
              <a:tr h="75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DONE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Grievance Submission 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Grievance Submission:</a:t>
                      </a:r>
                      <a:r>
                        <a:rPr lang="en-US" sz="1200" dirty="0"/>
                        <a:t> Create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Grievance</a:t>
                      </a:r>
                      <a:r>
                        <a:rPr lang="en-US" sz="1200" dirty="0"/>
                        <a:t> model and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GrievanceController</a:t>
                      </a:r>
                      <a:r>
                        <a:rPr lang="en-US" sz="1200" dirty="0"/>
                        <a:t>. Implement logic to save the grievance and link it to the authenticated user's ID.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32962"/>
                  </a:ext>
                </a:extLst>
              </a:tr>
              <a:tr h="75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TO BE DONE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Data Retrieval (Authenticated &amp; Role-Based Access)</a:t>
                      </a:r>
                      <a:endParaRPr lang="en-IN" sz="1400" b="1" dirty="0"/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Retrieval:</a:t>
                      </a:r>
                      <a:r>
                        <a:rPr lang="en-US" sz="1200" dirty="0"/>
                        <a:t> Implement custom repository method 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findByReporterId</a:t>
                      </a:r>
                      <a:r>
                        <a:rPr lang="en-US" sz="1200" dirty="0"/>
                        <a:t>) and Controller logic to fetch only the cases associated with the authenticated user.</a:t>
                      </a:r>
                    </a:p>
                  </a:txBody>
                  <a:tcPr marL="61829" marR="61829" marT="30914" marB="30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8424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9612371-0407-D47A-13F1-BDB8518670E7}"/>
              </a:ext>
            </a:extLst>
          </p:cNvPr>
          <p:cNvSpPr/>
          <p:nvPr/>
        </p:nvSpPr>
        <p:spPr>
          <a:xfrm>
            <a:off x="4568113" y="1920662"/>
            <a:ext cx="30557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2800" u="sng" dirty="0"/>
              <a:t>Core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341642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C6510B-4305-C5DE-D0B9-5AAE27C4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IN" dirty="0"/>
              <a:t>                                              To-Do List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9628B8-965A-B153-A2FF-F20BC6A37B2B}"/>
              </a:ext>
            </a:extLst>
          </p:cNvPr>
          <p:cNvSpPr/>
          <p:nvPr/>
        </p:nvSpPr>
        <p:spPr>
          <a:xfrm>
            <a:off x="826289" y="2648588"/>
            <a:ext cx="10586301" cy="39501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8946E1-54E0-58C3-4240-C5077F654600}"/>
              </a:ext>
            </a:extLst>
          </p:cNvPr>
          <p:cNvCxnSpPr>
            <a:cxnSpLocks/>
          </p:cNvCxnSpPr>
          <p:nvPr/>
        </p:nvCxnSpPr>
        <p:spPr>
          <a:xfrm>
            <a:off x="952107" y="2894028"/>
            <a:ext cx="104136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A8C27E-E365-212C-063B-E6C6D5DFC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283820"/>
              </p:ext>
            </p:extLst>
          </p:nvPr>
        </p:nvGraphicFramePr>
        <p:xfrm>
          <a:off x="1409223" y="2564090"/>
          <a:ext cx="9830670" cy="2865749"/>
        </p:xfrm>
        <a:graphic>
          <a:graphicData uri="http://schemas.openxmlformats.org/drawingml/2006/table">
            <a:tbl>
              <a:tblPr/>
              <a:tblGrid>
                <a:gridCol w="3276890">
                  <a:extLst>
                    <a:ext uri="{9D8B030D-6E8A-4147-A177-3AD203B41FA5}">
                      <a16:colId xmlns:a16="http://schemas.microsoft.com/office/drawing/2014/main" val="4273292367"/>
                    </a:ext>
                  </a:extLst>
                </a:gridCol>
                <a:gridCol w="3276890">
                  <a:extLst>
                    <a:ext uri="{9D8B030D-6E8A-4147-A177-3AD203B41FA5}">
                      <a16:colId xmlns:a16="http://schemas.microsoft.com/office/drawing/2014/main" val="1078605007"/>
                    </a:ext>
                  </a:extLst>
                </a:gridCol>
                <a:gridCol w="3276890">
                  <a:extLst>
                    <a:ext uri="{9D8B030D-6E8A-4147-A177-3AD203B41FA5}">
                      <a16:colId xmlns:a16="http://schemas.microsoft.com/office/drawing/2014/main" val="469392365"/>
                    </a:ext>
                  </a:extLst>
                </a:gridCol>
              </a:tblGrid>
              <a:tr h="34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Google Sans Text"/>
                        </a:rPr>
                        <a:t>Status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  <a:latin typeface="Google Sans Text"/>
                        </a:rPr>
                        <a:t>Task</a:t>
                      </a:r>
                      <a:endParaRPr lang="en-IN" sz="1500">
                        <a:effectLst/>
                        <a:latin typeface="Google Sans Text"/>
                      </a:endParaRP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  <a:latin typeface="Google Sans Text"/>
                        </a:rPr>
                        <a:t>Details</a:t>
                      </a:r>
                      <a:endParaRPr lang="en-IN" sz="1500">
                        <a:effectLst/>
                        <a:latin typeface="Google Sans Text"/>
                      </a:endParaRP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372119"/>
                  </a:ext>
                </a:extLst>
              </a:tr>
              <a:tr h="1389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D</a:t>
                      </a:r>
                      <a:r>
                        <a:rPr lang="en-IN" sz="1500" dirty="0">
                          <a:effectLst/>
                          <a:latin typeface="Google Sans Text"/>
                        </a:rPr>
                        <a:t>ONE</a:t>
                      </a: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Google Sans Text"/>
                        </a:rPr>
                        <a:t>Postman Testing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  <a:latin typeface="Google Sans Text"/>
                        </a:rPr>
                        <a:t>Successfully perform the full workflow: </a:t>
                      </a:r>
                      <a:r>
                        <a:rPr lang="en-US" sz="1500" b="1">
                          <a:effectLst/>
                          <a:latin typeface="Google Sans Text"/>
                        </a:rPr>
                        <a:t>Register $\rightarrow$ Login (get JWT) $\rightarrow$ Submit Grievance (using JWT) $\rightarrow$ Get My Grievances.</a:t>
                      </a:r>
                      <a:endParaRPr lang="en-US" sz="1500">
                        <a:effectLst/>
                        <a:latin typeface="Google Sans Text"/>
                      </a:endParaRP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687878"/>
                  </a:ext>
                </a:extLst>
              </a:tr>
              <a:tr h="1128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D</a:t>
                      </a:r>
                      <a:r>
                        <a:rPr lang="en-IN" sz="1500" dirty="0">
                          <a:effectLst/>
                          <a:latin typeface="Google Sans Text"/>
                        </a:rPr>
                        <a:t>ONE</a:t>
                      </a: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Google Sans Text"/>
                        </a:rPr>
                        <a:t>DB Check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Verify that all submitted data (users, hashed passwords, and grievances) are correctly stored in the MySQL database tables.</a:t>
                      </a: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88122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F48D8E7-44B3-2D37-E068-7EEAEE09EF41}"/>
              </a:ext>
            </a:extLst>
          </p:cNvPr>
          <p:cNvSpPr/>
          <p:nvPr/>
        </p:nvSpPr>
        <p:spPr>
          <a:xfrm>
            <a:off x="4165586" y="1920662"/>
            <a:ext cx="36911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800" u="sng" dirty="0"/>
              <a:t>Final Validation &amp; Testing</a:t>
            </a:r>
            <a:endParaRPr lang="en-US" sz="28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92741B-BBA9-40A7-7766-EA13CD8D4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887308"/>
              </p:ext>
            </p:extLst>
          </p:nvPr>
        </p:nvGraphicFramePr>
        <p:xfrm>
          <a:off x="1409223" y="5144703"/>
          <a:ext cx="9830670" cy="1359792"/>
        </p:xfrm>
        <a:graphic>
          <a:graphicData uri="http://schemas.openxmlformats.org/drawingml/2006/table">
            <a:tbl>
              <a:tblPr/>
              <a:tblGrid>
                <a:gridCol w="3276890">
                  <a:extLst>
                    <a:ext uri="{9D8B030D-6E8A-4147-A177-3AD203B41FA5}">
                      <a16:colId xmlns:a16="http://schemas.microsoft.com/office/drawing/2014/main" val="4273292367"/>
                    </a:ext>
                  </a:extLst>
                </a:gridCol>
                <a:gridCol w="3276890">
                  <a:extLst>
                    <a:ext uri="{9D8B030D-6E8A-4147-A177-3AD203B41FA5}">
                      <a16:colId xmlns:a16="http://schemas.microsoft.com/office/drawing/2014/main" val="1078605007"/>
                    </a:ext>
                  </a:extLst>
                </a:gridCol>
                <a:gridCol w="3276890">
                  <a:extLst>
                    <a:ext uri="{9D8B030D-6E8A-4147-A177-3AD203B41FA5}">
                      <a16:colId xmlns:a16="http://schemas.microsoft.com/office/drawing/2014/main" val="469392365"/>
                    </a:ext>
                  </a:extLst>
                </a:gridCol>
              </a:tblGrid>
              <a:tr h="1359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 TO BE D</a:t>
                      </a:r>
                      <a:r>
                        <a:rPr lang="en-IN" sz="1500" dirty="0">
                          <a:effectLst/>
                          <a:latin typeface="Google Sans Text"/>
                        </a:rPr>
                        <a:t>ONE</a:t>
                      </a: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  <a:latin typeface="Google Sans Text"/>
                        </a:rPr>
                        <a:t>Notification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Notifications about the grievances</a:t>
                      </a:r>
                    </a:p>
                  </a:txBody>
                  <a:tcPr marL="76614" marR="76614" marT="38307" marB="383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881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61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5CDF-0650-5863-5034-4C75168C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Project Initialization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A792F-3215-08E2-365E-98D6D1448D3A}"/>
              </a:ext>
            </a:extLst>
          </p:cNvPr>
          <p:cNvSpPr/>
          <p:nvPr/>
        </p:nvSpPr>
        <p:spPr>
          <a:xfrm>
            <a:off x="581192" y="1817265"/>
            <a:ext cx="35157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Spring </a:t>
            </a:r>
            <a:r>
              <a:rPr lang="en-US" sz="36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Initializr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68C1A-BC67-42EF-2768-0442CAFE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0" y="2658359"/>
            <a:ext cx="11290297" cy="402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90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1429-0C80-ABD7-D810-B58A2E08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    file structure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6C4E2-23B0-3D21-FE9B-145E43353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656" y="1923068"/>
            <a:ext cx="3516687" cy="493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7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724B-52A5-8706-8AF9-AAAA4DA9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33DE2-A0CD-70BC-A2E6-2E3B3F664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64" y="2389122"/>
            <a:ext cx="8240275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0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5BD9-41D4-978F-69DC-4880A29C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0018D-6FBA-F8FC-EC6D-DCAA96FE5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78" y="2602523"/>
            <a:ext cx="8507012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64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9929-4ACA-0E62-B255-1ABFF2E6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  Testing -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696D5-F03D-CE6C-04C3-2746F5AF9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8" y="2837468"/>
            <a:ext cx="11029616" cy="37801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076CA4-4278-17A1-D49A-570239A68E2B}"/>
              </a:ext>
            </a:extLst>
          </p:cNvPr>
          <p:cNvSpPr/>
          <p:nvPr/>
        </p:nvSpPr>
        <p:spPr>
          <a:xfrm>
            <a:off x="581192" y="1984324"/>
            <a:ext cx="257211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Register API</a:t>
            </a:r>
            <a:endParaRPr lang="en-IN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9723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1508-039D-636E-14ED-8A0F10B3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  Testing -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6ABD4-59A3-4DDC-15BC-F69E699E60DB}"/>
              </a:ext>
            </a:extLst>
          </p:cNvPr>
          <p:cNvSpPr/>
          <p:nvPr/>
        </p:nvSpPr>
        <p:spPr>
          <a:xfrm>
            <a:off x="843989" y="1984324"/>
            <a:ext cx="204652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Login API</a:t>
            </a:r>
            <a:endParaRPr lang="en-IN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603811-8DBA-45C1-85B3-77A5B3BCA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84" y="2757636"/>
            <a:ext cx="11265031" cy="39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92568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757</TotalTime>
  <Words>693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Courier New</vt:lpstr>
      <vt:lpstr>Gill Sans MT</vt:lpstr>
      <vt:lpstr>Google Sans Text</vt:lpstr>
      <vt:lpstr>Wingdings 2</vt:lpstr>
      <vt:lpstr>Dividend</vt:lpstr>
      <vt:lpstr>PowerPoint Presentation</vt:lpstr>
      <vt:lpstr>                           IN MILESTONE -1</vt:lpstr>
      <vt:lpstr>                           IN MILESTONE -1</vt:lpstr>
      <vt:lpstr>                           IN MILESTONE -1</vt:lpstr>
      <vt:lpstr>                                          MILESTONE - 2</vt:lpstr>
      <vt:lpstr>                                              To-Do List</vt:lpstr>
      <vt:lpstr>PowerPoint Presentation</vt:lpstr>
      <vt:lpstr>                                              To-Do List</vt:lpstr>
      <vt:lpstr>                                              To-Do List</vt:lpstr>
      <vt:lpstr>                                   Project Initialization</vt:lpstr>
      <vt:lpstr>                                       file structure </vt:lpstr>
      <vt:lpstr>Database </vt:lpstr>
      <vt:lpstr>database</vt:lpstr>
      <vt:lpstr>Api   Testing - </vt:lpstr>
      <vt:lpstr>Api   Testing 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Prerak Bisen</dc:creator>
  <cp:lastModifiedBy>Prerak Bisen</cp:lastModifiedBy>
  <cp:revision>3</cp:revision>
  <dcterms:created xsi:type="dcterms:W3CDTF">2025-12-14T04:56:26Z</dcterms:created>
  <dcterms:modified xsi:type="dcterms:W3CDTF">2025-12-26T13:36:17Z</dcterms:modified>
</cp:coreProperties>
</file>