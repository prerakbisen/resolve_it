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69" r:id="rId2"/>
    <p:sldId id="270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30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95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8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7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03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70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2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44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7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6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26633EB-E135-42CF-9176-9AAE9DDC459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C652DB3-E946-4012-AA55-5B23C9208E6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15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bing.com/ck/a?!&amp;&amp;p=709e0b9a875d6306f4b666d2afad5aa94f90ce818f6f7e52e3134da5854a8b8fJmltdHM9MTc2NDI4ODAwMA&amp;ptn=3&amp;ver=2&amp;hsh=4&amp;fclid=1c6bb240-9377-6290-13d1-a43792ec63f8&amp;psq=Use+case+diagram++and+flow+diagram&amp;u=a1aHR0cHM6Ly93d3cuZ2Vla3Nmb3JnZWVrcy5vcmcvc3lzdGVtLWRlc2lnbi91c2UtY2FzZS1kaWFncmFtLw&amp;ntb=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2BF4E-97D4-CCA6-1437-5E1645970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689544"/>
            <a:ext cx="11029615" cy="3678303"/>
          </a:xfrm>
        </p:spPr>
        <p:txBody>
          <a:bodyPr/>
          <a:lstStyle/>
          <a:p>
            <a:r>
              <a:rPr lang="en-US" b="1" dirty="0"/>
              <a:t>Manual/Paper-Based Systems:</a:t>
            </a:r>
            <a:r>
              <a:rPr lang="en-US" dirty="0"/>
              <a:t> Many hospitals still rely on paper forms, fax, email inboxes, or sticky notes to capture complaints. This makes tracking, sorting, and reporting incredibly difficult.</a:t>
            </a:r>
          </a:p>
          <a:p>
            <a:r>
              <a:rPr lang="en-US" b="1" dirty="0"/>
              <a:t>Slow Routing and Assignment:</a:t>
            </a:r>
            <a:r>
              <a:rPr lang="en-US" dirty="0"/>
              <a:t> It takes too long to get a complaint from the initial submission to the correct staff member who can actually resolve it. This prolongs resolution time and increases patient frustration.</a:t>
            </a:r>
          </a:p>
          <a:p>
            <a:r>
              <a:rPr lang="en-US" b="1" dirty="0"/>
              <a:t>No Feedback Loop:</a:t>
            </a:r>
            <a:r>
              <a:rPr lang="en-US" dirty="0"/>
              <a:t> The organization rarely collects formal satisfaction ratings on how well a complaint was resolved, meaning they don't know if their resolution process actually satisfied the patient.</a:t>
            </a:r>
          </a:p>
          <a:p>
            <a:r>
              <a:rPr lang="en-US" b="1" dirty="0"/>
              <a:t>Inconsistent Communication:</a:t>
            </a:r>
            <a:r>
              <a:rPr lang="en-US" dirty="0"/>
              <a:t> Different staff members may provide different updates or use varying internal processes, leading to confusion and eroding patient trust.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867209-1301-196C-E331-4BB626A7ED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66766" y="755402"/>
            <a:ext cx="11029950" cy="4955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          </a:t>
            </a:r>
            <a:r>
              <a:rPr lang="en-IN" sz="3100" dirty="0"/>
              <a:t>HEALTHCARE GRIEVANCE SYSTEM (HGS)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DE7CD0A-2518-24F7-C6D0-56AD49F7CDFD}"/>
              </a:ext>
            </a:extLst>
          </p:cNvPr>
          <p:cNvSpPr txBox="1">
            <a:spLocks/>
          </p:cNvSpPr>
          <p:nvPr/>
        </p:nvSpPr>
        <p:spPr>
          <a:xfrm>
            <a:off x="197963" y="1093507"/>
            <a:ext cx="10993546" cy="78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bg1"/>
                </a:solidFill>
              </a:rPr>
              <a:t>Resolve Complaints. Improve Care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2755D54-3062-36BB-CB7D-AF8FBC40AAB4}"/>
              </a:ext>
            </a:extLst>
          </p:cNvPr>
          <p:cNvSpPr txBox="1">
            <a:spLocks/>
          </p:cNvSpPr>
          <p:nvPr/>
        </p:nvSpPr>
        <p:spPr>
          <a:xfrm>
            <a:off x="284375" y="2056612"/>
            <a:ext cx="10993546" cy="78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MAJOR PROBLEM IN THIS AREA :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09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F4956-179C-FD0C-B178-E3B771C8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0E15AD-440A-FCFB-27BE-55A293C8206E}"/>
              </a:ext>
            </a:extLst>
          </p:cNvPr>
          <p:cNvSpPr txBox="1">
            <a:spLocks/>
          </p:cNvSpPr>
          <p:nvPr/>
        </p:nvSpPr>
        <p:spPr>
          <a:xfrm>
            <a:off x="1315663" y="603292"/>
            <a:ext cx="10993549" cy="6858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          HEALTHCARE GRIEVANCE SYSTEM (HGS)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62DFC53-4536-2FF4-0622-25F39869DF97}"/>
              </a:ext>
            </a:extLst>
          </p:cNvPr>
          <p:cNvSpPr txBox="1">
            <a:spLocks/>
          </p:cNvSpPr>
          <p:nvPr/>
        </p:nvSpPr>
        <p:spPr>
          <a:xfrm>
            <a:off x="197963" y="1093507"/>
            <a:ext cx="10993546" cy="782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bg1"/>
                </a:solidFill>
              </a:rPr>
              <a:t>Resolve Complaints. Improve Care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91EC45-51D8-7C82-1EB1-FEE836E29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14" y="1484719"/>
            <a:ext cx="10821971" cy="582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76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894F-98E5-5ABA-FAE0-9BDD3BDA7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User Roles in HGS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575C9-F146-F31A-A460-79B89C691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41"/>
          <a:stretch>
            <a:fillRect/>
          </a:stretch>
        </p:blipFill>
        <p:spPr>
          <a:xfrm>
            <a:off x="1555421" y="1800519"/>
            <a:ext cx="8757501" cy="543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89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2611-8F28-A600-DD37-F56C775BC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F175CD-815B-83AD-88BD-C678B355E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409651"/>
              </p:ext>
            </p:extLst>
          </p:nvPr>
        </p:nvGraphicFramePr>
        <p:xfrm>
          <a:off x="1593130" y="2144443"/>
          <a:ext cx="5702199" cy="3794502"/>
        </p:xfrm>
        <a:graphic>
          <a:graphicData uri="http://schemas.openxmlformats.org/drawingml/2006/table">
            <a:tbl>
              <a:tblPr/>
              <a:tblGrid>
                <a:gridCol w="2821756">
                  <a:extLst>
                    <a:ext uri="{9D8B030D-6E8A-4147-A177-3AD203B41FA5}">
                      <a16:colId xmlns:a16="http://schemas.microsoft.com/office/drawing/2014/main" val="3665212141"/>
                    </a:ext>
                  </a:extLst>
                </a:gridCol>
                <a:gridCol w="2755769">
                  <a:extLst>
                    <a:ext uri="{9D8B030D-6E8A-4147-A177-3AD203B41FA5}">
                      <a16:colId xmlns:a16="http://schemas.microsoft.com/office/drawing/2014/main" val="1337937898"/>
                    </a:ext>
                  </a:extLst>
                </a:gridCol>
                <a:gridCol w="124674">
                  <a:extLst>
                    <a:ext uri="{9D8B030D-6E8A-4147-A177-3AD203B41FA5}">
                      <a16:colId xmlns:a16="http://schemas.microsoft.com/office/drawing/2014/main" val="4188607771"/>
                    </a:ext>
                  </a:extLst>
                </a:gridCol>
              </a:tblGrid>
              <a:tr h="254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Layer</a:t>
                      </a:r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Technology</a:t>
                      </a:r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893507"/>
                  </a:ext>
                </a:extLst>
              </a:tr>
              <a:tr h="675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Front-End </a:t>
                      </a:r>
                      <a:endParaRPr lang="en-IN" sz="16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HTML , CSS , JS</a:t>
                      </a:r>
                      <a:endParaRPr lang="en-IN" sz="16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597488"/>
                  </a:ext>
                </a:extLst>
              </a:tr>
              <a:tr h="987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Back-End </a:t>
                      </a:r>
                      <a:endParaRPr lang="en-IN" sz="16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Java with Spring Boot</a:t>
                      </a:r>
                      <a:endParaRPr lang="en-IN" sz="160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27786"/>
                  </a:ext>
                </a:extLst>
              </a:tr>
              <a:tr h="1299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Database</a:t>
                      </a:r>
                      <a:endParaRPr lang="en-IN" sz="16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MySQL</a:t>
                      </a:r>
                      <a:endParaRPr lang="en-IN" sz="160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98112"/>
                  </a:ext>
                </a:extLst>
              </a:tr>
              <a:tr h="519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Styling/UI</a:t>
                      </a:r>
                      <a:endParaRPr lang="en-IN" sz="1600"/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Tailwind CSS</a:t>
                      </a:r>
                      <a:r>
                        <a:rPr lang="en-US" sz="1600" dirty="0"/>
                        <a:t> (or pure CSS/SASS)</a:t>
                      </a:r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.</a:t>
                      </a:r>
                    </a:p>
                  </a:txBody>
                  <a:tcPr marL="49637" marR="49637" marT="24819" marB="24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41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717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16DD-774C-2CAA-9778-D35E36DB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D2E0CA-422D-3CFC-BBDF-90A9294C3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400570"/>
              </p:ext>
            </p:extLst>
          </p:nvPr>
        </p:nvGraphicFramePr>
        <p:xfrm>
          <a:off x="1352662" y="2631593"/>
          <a:ext cx="6266322" cy="3524251"/>
        </p:xfrm>
        <a:graphic>
          <a:graphicData uri="http://schemas.openxmlformats.org/drawingml/2006/table">
            <a:tbl>
              <a:tblPr/>
              <a:tblGrid>
                <a:gridCol w="3043847">
                  <a:extLst>
                    <a:ext uri="{9D8B030D-6E8A-4147-A177-3AD203B41FA5}">
                      <a16:colId xmlns:a16="http://schemas.microsoft.com/office/drawing/2014/main" val="2977199979"/>
                    </a:ext>
                  </a:extLst>
                </a:gridCol>
                <a:gridCol w="3043847">
                  <a:extLst>
                    <a:ext uri="{9D8B030D-6E8A-4147-A177-3AD203B41FA5}">
                      <a16:colId xmlns:a16="http://schemas.microsoft.com/office/drawing/2014/main" val="3618462510"/>
                    </a:ext>
                  </a:extLst>
                </a:gridCol>
                <a:gridCol w="178628">
                  <a:extLst>
                    <a:ext uri="{9D8B030D-6E8A-4147-A177-3AD203B41FA5}">
                      <a16:colId xmlns:a16="http://schemas.microsoft.com/office/drawing/2014/main" val="1006467000"/>
                    </a:ext>
                  </a:extLst>
                </a:gridCol>
              </a:tblGrid>
              <a:tr h="306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Component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Tool/Service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528961"/>
                  </a:ext>
                </a:extLst>
              </a:tr>
              <a:tr h="1225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API Testing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Postman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597107"/>
                  </a:ext>
                </a:extLst>
              </a:tr>
              <a:tr h="99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Version Control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Git &amp; GitHub</a:t>
                      </a: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826626"/>
                  </a:ext>
                </a:extLst>
              </a:tr>
              <a:tr h="99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Deployment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Vercel / Netlify</a:t>
                      </a:r>
                      <a:r>
                        <a:rPr lang="en-US" sz="1500"/>
                        <a:t> (Front-End) &amp; </a:t>
                      </a:r>
                      <a:r>
                        <a:rPr lang="en-US" sz="1500" b="1"/>
                        <a:t>AWS / DigitalOcean / Render</a:t>
                      </a:r>
                      <a:r>
                        <a:rPr lang="en-US" sz="1500"/>
                        <a:t> (Back-End/DB)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097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56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4502-D7B4-7576-47E3-20ABC33AF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 Case Diagram</a:t>
            </a:r>
            <a:r>
              <a:rPr lang="en-IN" b="1" u="sng" dirty="0">
                <a:solidFill>
                  <a:schemeClr val="bg2"/>
                </a:solidFill>
              </a:rPr>
              <a:t>  </a:t>
            </a:r>
            <a:r>
              <a:rPr lang="en-IN" b="1" u="sng" dirty="0"/>
              <a:t>and flow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5E284D-31AD-48D8-9447-768ABA3F3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19" y="2017335"/>
            <a:ext cx="5735649" cy="4449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7336C2-C24A-A5AA-C298-6808E78E8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679" y="2017545"/>
            <a:ext cx="984759" cy="44029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0372337-DDF1-2497-A58B-5CB61C2B9FA8}"/>
              </a:ext>
            </a:extLst>
          </p:cNvPr>
          <p:cNvSpPr/>
          <p:nvPr/>
        </p:nvSpPr>
        <p:spPr>
          <a:xfrm>
            <a:off x="6826577" y="1833512"/>
            <a:ext cx="4864231" cy="48170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4EECC2-610F-1B18-0BA0-CD7302C724D3}"/>
              </a:ext>
            </a:extLst>
          </p:cNvPr>
          <p:cNvSpPr/>
          <p:nvPr/>
        </p:nvSpPr>
        <p:spPr>
          <a:xfrm>
            <a:off x="501192" y="1833512"/>
            <a:ext cx="6229546" cy="48170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54A84-9CF0-203D-5E42-5AF8622E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Entity Relationship Diagrams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A47310-E65B-DDA1-E8DC-340F74C77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070" y="1913919"/>
            <a:ext cx="6843860" cy="453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68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2CDC7-2C9B-00E6-C210-0C80A6751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User interface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C04894-269F-CE9A-934D-50CC4862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243" y="1836577"/>
            <a:ext cx="6944539" cy="4934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DE4797-3B63-056F-FEF8-FB270AA38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75" y="1945913"/>
            <a:ext cx="3815083" cy="482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6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5625-2A30-0EB4-F9A8-AD9E4040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User interface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D3B460-17A4-0CFB-F5D4-55CBB0351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875933"/>
            <a:ext cx="3981381" cy="4442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433BEB-51DC-0993-301D-9D75EFA18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243" y="2045615"/>
            <a:ext cx="6982248" cy="393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47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BF6F-916D-13E4-1B57-0AE04EC0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3E7D753-E90C-2F4A-431C-10F912EA4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38436"/>
              </p:ext>
            </p:extLst>
          </p:nvPr>
        </p:nvGraphicFramePr>
        <p:xfrm>
          <a:off x="1300899" y="3167892"/>
          <a:ext cx="8473194" cy="2987952"/>
        </p:xfrm>
        <a:graphic>
          <a:graphicData uri="http://schemas.openxmlformats.org/drawingml/2006/table">
            <a:tbl>
              <a:tblPr/>
              <a:tblGrid>
                <a:gridCol w="194331">
                  <a:extLst>
                    <a:ext uri="{9D8B030D-6E8A-4147-A177-3AD203B41FA5}">
                      <a16:colId xmlns:a16="http://schemas.microsoft.com/office/drawing/2014/main" val="2461454056"/>
                    </a:ext>
                  </a:extLst>
                </a:gridCol>
                <a:gridCol w="2759621">
                  <a:extLst>
                    <a:ext uri="{9D8B030D-6E8A-4147-A177-3AD203B41FA5}">
                      <a16:colId xmlns:a16="http://schemas.microsoft.com/office/drawing/2014/main" val="1876392844"/>
                    </a:ext>
                  </a:extLst>
                </a:gridCol>
                <a:gridCol w="2759621">
                  <a:extLst>
                    <a:ext uri="{9D8B030D-6E8A-4147-A177-3AD203B41FA5}">
                      <a16:colId xmlns:a16="http://schemas.microsoft.com/office/drawing/2014/main" val="1366255405"/>
                    </a:ext>
                  </a:extLst>
                </a:gridCol>
                <a:gridCol w="2759621">
                  <a:extLst>
                    <a:ext uri="{9D8B030D-6E8A-4147-A177-3AD203B41FA5}">
                      <a16:colId xmlns:a16="http://schemas.microsoft.com/office/drawing/2014/main" val="1437972526"/>
                    </a:ext>
                  </a:extLst>
                </a:gridCol>
              </a:tblGrid>
              <a:tr h="3064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Task Description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Status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018015"/>
                  </a:ext>
                </a:extLst>
              </a:tr>
              <a:tr h="536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Finalize Login/Register UI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Done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473056"/>
                  </a:ext>
                </a:extLst>
              </a:tr>
              <a:tr h="3064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Complete Home Page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D</a:t>
                      </a:r>
                      <a:r>
                        <a:rPr lang="en-IN" sz="1500" dirty="0"/>
                        <a:t>one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00345"/>
                  </a:ext>
                </a:extLst>
              </a:tr>
              <a:tr h="536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Complete Patient Dashboard UI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D</a:t>
                      </a:r>
                      <a:r>
                        <a:rPr lang="en-IN" sz="1500" dirty="0"/>
                        <a:t>one</a:t>
                      </a:r>
                    </a:p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312588"/>
                  </a:ext>
                </a:extLst>
              </a:tr>
              <a:tr h="536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Complete Admin Dashboard UI</a:t>
                      </a:r>
                      <a:endParaRPr lang="en-IN" sz="150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D</a:t>
                      </a:r>
                      <a:r>
                        <a:rPr lang="en-IN" sz="1500" dirty="0"/>
                        <a:t>one</a:t>
                      </a:r>
                    </a:p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933767"/>
                  </a:ext>
                </a:extLst>
              </a:tr>
              <a:tr h="7661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Design Staff Dashboard UI</a:t>
                      </a:r>
                      <a:r>
                        <a:rPr lang="en-US" sz="1500" dirty="0"/>
                        <a:t> (similar structure to Admin)</a:t>
                      </a:r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D</a:t>
                      </a:r>
                      <a:r>
                        <a:rPr lang="en-IN" sz="1500" dirty="0"/>
                        <a:t>one</a:t>
                      </a:r>
                    </a:p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614" marR="76614" marT="38307" marB="3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4228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99C824F-1958-E0C8-622F-13ECDC6495A3}"/>
              </a:ext>
            </a:extLst>
          </p:cNvPr>
          <p:cNvSpPr txBox="1"/>
          <p:nvPr/>
        </p:nvSpPr>
        <p:spPr>
          <a:xfrm>
            <a:off x="1220703" y="23811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Phase 1: Front-End Core &amp; Structure (UI/UX)</a:t>
            </a:r>
          </a:p>
        </p:txBody>
      </p:sp>
    </p:spTree>
    <p:extLst>
      <p:ext uri="{BB962C8B-B14F-4D97-AF65-F5344CB8AC3E}">
        <p14:creationId xmlns:p14="http://schemas.microsoft.com/office/powerpoint/2010/main" val="1694105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59D8-0EC9-4376-8F66-E75C469D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2C1A5B-86CC-F858-0DA4-64521CE4A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570664"/>
              </p:ext>
            </p:extLst>
          </p:nvPr>
        </p:nvGraphicFramePr>
        <p:xfrm>
          <a:off x="873424" y="2950590"/>
          <a:ext cx="10250205" cy="3496788"/>
        </p:xfrm>
        <a:graphic>
          <a:graphicData uri="http://schemas.openxmlformats.org/drawingml/2006/table">
            <a:tbl>
              <a:tblPr/>
              <a:tblGrid>
                <a:gridCol w="163329">
                  <a:extLst>
                    <a:ext uri="{9D8B030D-6E8A-4147-A177-3AD203B41FA5}">
                      <a16:colId xmlns:a16="http://schemas.microsoft.com/office/drawing/2014/main" val="1489408806"/>
                    </a:ext>
                  </a:extLst>
                </a:gridCol>
                <a:gridCol w="3362292">
                  <a:extLst>
                    <a:ext uri="{9D8B030D-6E8A-4147-A177-3AD203B41FA5}">
                      <a16:colId xmlns:a16="http://schemas.microsoft.com/office/drawing/2014/main" val="139577424"/>
                    </a:ext>
                  </a:extLst>
                </a:gridCol>
                <a:gridCol w="3362292">
                  <a:extLst>
                    <a:ext uri="{9D8B030D-6E8A-4147-A177-3AD203B41FA5}">
                      <a16:colId xmlns:a16="http://schemas.microsoft.com/office/drawing/2014/main" val="215731784"/>
                    </a:ext>
                  </a:extLst>
                </a:gridCol>
                <a:gridCol w="3362292">
                  <a:extLst>
                    <a:ext uri="{9D8B030D-6E8A-4147-A177-3AD203B41FA5}">
                      <a16:colId xmlns:a16="http://schemas.microsoft.com/office/drawing/2014/main" val="2398415171"/>
                    </a:ext>
                  </a:extLst>
                </a:gridCol>
              </a:tblGrid>
              <a:tr h="1984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Task Description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Status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Target Technology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686339"/>
                  </a:ext>
                </a:extLst>
              </a:tr>
              <a:tr h="6270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Set up Back-End Framework</a:t>
                      </a:r>
                      <a:r>
                        <a:rPr lang="en-IN" sz="1100"/>
                        <a:t> (e.g., Node.js, Python/Django, PHP/Laravel)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Server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110602"/>
                  </a:ext>
                </a:extLst>
              </a:tr>
              <a:tr h="77181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Design and Implement Database Schema</a:t>
                      </a:r>
                      <a:r>
                        <a:rPr lang="en-US" sz="1100" dirty="0"/>
                        <a:t> (Tables for Users, Grievances, Feedback, Categories).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Database (SQL)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242655"/>
                  </a:ext>
                </a:extLst>
              </a:tr>
              <a:tr h="6270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Develop User Authentication API</a:t>
                      </a:r>
                      <a:r>
                        <a:rPr lang="en-IN" sz="1100"/>
                        <a:t> (Login/Logout/Registration endpoints).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Back-End API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39755"/>
                  </a:ext>
                </a:extLst>
              </a:tr>
              <a:tr h="6270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Implement Role-Based Access Control (RBAC)</a:t>
                      </a:r>
                      <a:r>
                        <a:rPr lang="en-US" sz="1100"/>
                        <a:t> to distinguish Admin, Staff, and Patient users.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Back-End Logic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877370"/>
                  </a:ext>
                </a:extLst>
              </a:tr>
              <a:tr h="6270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Configure Postman Collections</a:t>
                      </a:r>
                      <a:r>
                        <a:rPr lang="en-IN" sz="1100"/>
                        <a:t> for all core API endpoints (Test environment).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</a:t>
                      </a:r>
                      <a:r>
                        <a:rPr lang="en-IN" sz="1100" dirty="0"/>
                        <a:t>O BE DONE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Postman</a:t>
                      </a:r>
                    </a:p>
                  </a:txBody>
                  <a:tcPr marL="48948" marR="48948" marT="24474" marB="24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3251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A63196-9D23-0343-7146-2EF2158EE218}"/>
              </a:ext>
            </a:extLst>
          </p:cNvPr>
          <p:cNvSpPr txBox="1"/>
          <p:nvPr/>
        </p:nvSpPr>
        <p:spPr>
          <a:xfrm>
            <a:off x="992171" y="214860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Phase 2: Back-End Setup &amp; Data Handling (Server-Side)</a:t>
            </a:r>
          </a:p>
        </p:txBody>
      </p:sp>
    </p:spTree>
    <p:extLst>
      <p:ext uri="{BB962C8B-B14F-4D97-AF65-F5344CB8AC3E}">
        <p14:creationId xmlns:p14="http://schemas.microsoft.com/office/powerpoint/2010/main" val="5883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FBCB-CA50-EDB6-081A-21FE27D6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1AE6E1E-7E97-4195-C4E3-646C2226D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865487"/>
            <a:ext cx="110296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Create a dedicated mobile application for patients to submit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feedback and track their grievance status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Chat: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a secure chat feature allowing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direct, instant communication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between the reporter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(Patient) and the assigned staff member for fast clarification.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1" dirty="0"/>
              <a:t>Multi-Lingual Support:</a:t>
            </a:r>
            <a:r>
              <a:rPr lang="en-US" dirty="0"/>
              <a:t>  Implement features for automated language translation to better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                                        serve diverse user groups.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45869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420</TotalTime>
  <Words>487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Wingdings 2</vt:lpstr>
      <vt:lpstr>Dividend</vt:lpstr>
      <vt:lpstr>          HEALTHCARE GRIEVANCE SYSTEM (HGS)</vt:lpstr>
      <vt:lpstr>PowerPoint Presentation</vt:lpstr>
      <vt:lpstr>Key User Roles in HGS</vt:lpstr>
      <vt:lpstr>Tech Stack</vt:lpstr>
      <vt:lpstr>TOOLS</vt:lpstr>
      <vt:lpstr>Use Case Diagram  and flow diagram</vt:lpstr>
      <vt:lpstr>Entity Relationship Diagrams</vt:lpstr>
      <vt:lpstr>User interface</vt:lpstr>
      <vt:lpstr>User interface</vt:lpstr>
      <vt:lpstr>To do list</vt:lpstr>
      <vt:lpstr>TO DO LIST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SME</dc:creator>
  <cp:lastModifiedBy>Prerak Bisen</cp:lastModifiedBy>
  <cp:revision>4</cp:revision>
  <dcterms:created xsi:type="dcterms:W3CDTF">2025-10-11T12:13:42Z</dcterms:created>
  <dcterms:modified xsi:type="dcterms:W3CDTF">2025-12-02T15:19:17Z</dcterms:modified>
</cp:coreProperties>
</file>